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1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tableStyles" Target="tableStyle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20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F97BC8F-5D05-41A1-9346-1AA27B79F77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1048921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22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4ACB27B4-DE2F-47F6-B72B-12CF7E180A11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1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1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1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91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with Bottom Background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9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2" y="0"/>
            <a:ext cx="9140956" cy="6857999"/>
          </a:xfrm>
          <a:prstGeom prst="rect"/>
        </p:spPr>
      </p:pic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b="1" sz="4000" i="1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2954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6569075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69075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ottom Background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7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2" y="0"/>
            <a:ext cx="9140956" cy="6857999"/>
          </a:xfrm>
          <a:prstGeom prst="rect"/>
        </p:spPr>
      </p:pic>
      <p:sp>
        <p:nvSpPr>
          <p:cNvPr id="104858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477000" cy="960120"/>
          </a:xfrm>
        </p:spPr>
        <p:txBody>
          <a:bodyPr>
            <a:normAutofit/>
          </a:bodyPr>
          <a:lstStyle>
            <a:lvl1pPr algn="l">
              <a:defRPr b="1" sz="3200" i="1">
                <a:latin typeface="Helvetica" pitchFamily="34" charset="0"/>
              </a:defRPr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343400"/>
          </a:xfrm>
        </p:spPr>
        <p:txBody>
          <a:bodyPr>
            <a:normAutofit/>
          </a:bodyPr>
          <a:lstStyle>
            <a:lvl1pPr>
              <a:defRPr sz="2400">
                <a:latin typeface="Helvetica" pitchFamily="34" charset="0"/>
              </a:defRPr>
            </a:lvl1pPr>
            <a:lvl2pPr>
              <a:defRPr sz="2400">
                <a:latin typeface="Helvetica" pitchFamily="34" charset="0"/>
              </a:defRPr>
            </a:lvl2pPr>
            <a:lvl3pPr>
              <a:defRPr sz="2400">
                <a:latin typeface="Helvetica" pitchFamily="34" charset="0"/>
              </a:defRPr>
            </a:lvl3pPr>
            <a:lvl4pPr>
              <a:defRPr sz="2400">
                <a:latin typeface="Helvetica" pitchFamily="34" charset="0"/>
              </a:defRPr>
            </a:lvl4pPr>
            <a:lvl5pPr>
              <a:defRPr sz="2400">
                <a:latin typeface="Helvetica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6553200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69075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Gradient Background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7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2" y="0"/>
            <a:ext cx="9140956" cy="6857999"/>
          </a:xfrm>
          <a:prstGeom prst="rect"/>
        </p:spPr>
      </p:pic>
      <p:sp>
        <p:nvSpPr>
          <p:cNvPr id="1048893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086600" cy="960438"/>
          </a:xfrm>
        </p:spPr>
        <p:txBody>
          <a:bodyPr>
            <a:normAutofit/>
          </a:bodyPr>
          <a:lstStyle>
            <a:lvl1pPr algn="l">
              <a:defRPr b="1" sz="3200" i="1">
                <a:latin typeface="Helvetica" pitchFamily="34" charset="0"/>
              </a:defRPr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1048894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>
            <a:normAutofit/>
          </a:bodyPr>
          <a:lstStyle>
            <a:lvl1pPr>
              <a:defRPr sz="2400">
                <a:latin typeface="Helvetica" pitchFamily="34" charset="0"/>
              </a:defRPr>
            </a:lvl1pPr>
            <a:lvl2pPr>
              <a:defRPr sz="2400">
                <a:latin typeface="Helvetica" pitchFamily="34" charset="0"/>
              </a:defRPr>
            </a:lvl2pPr>
            <a:lvl3pPr>
              <a:defRPr sz="2400">
                <a:latin typeface="Helvetica" pitchFamily="34" charset="0"/>
              </a:defRPr>
            </a:lvl3pPr>
            <a:lvl4pPr>
              <a:defRPr sz="2400">
                <a:latin typeface="Helvetica" pitchFamily="34" charset="0"/>
              </a:defRPr>
            </a:lvl4pPr>
            <a:lvl5pPr>
              <a:defRPr sz="2400">
                <a:latin typeface="Helvetica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1048895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6569075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89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89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69075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ckground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5" name="Picture 7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2" y="0"/>
            <a:ext cx="9140956" cy="6857999"/>
          </a:xfrm>
          <a:prstGeom prst="rect"/>
        </p:spPr>
      </p:pic>
      <p:sp>
        <p:nvSpPr>
          <p:cNvPr id="1048898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6096000" cy="960438"/>
          </a:xfrm>
        </p:spPr>
        <p:txBody>
          <a:bodyPr>
            <a:normAutofit/>
          </a:bodyPr>
          <a:lstStyle>
            <a:lvl1pPr algn="l">
              <a:defRPr b="1" sz="3200" i="1">
                <a:latin typeface="Helvetica" pitchFamily="34" charset="0"/>
              </a:defRPr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1048899" name="Content Placeholder 2"/>
          <p:cNvSpPr>
            <a:spLocks noGrp="1"/>
          </p:cNvSpPr>
          <p:nvPr>
            <p:ph idx="1"/>
          </p:nvPr>
        </p:nvSpPr>
        <p:spPr>
          <a:xfrm>
            <a:off x="1066800" y="1143000"/>
            <a:ext cx="7620000" cy="4267200"/>
          </a:xfrm>
        </p:spPr>
        <p:txBody>
          <a:bodyPr>
            <a:normAutofit/>
          </a:bodyPr>
          <a:lstStyle>
            <a:lvl1pPr>
              <a:defRPr sz="2400">
                <a:latin typeface="Helvetica" pitchFamily="34" charset="0"/>
              </a:defRPr>
            </a:lvl1pPr>
            <a:lvl2pPr>
              <a:defRPr sz="2400">
                <a:latin typeface="Helvetica" pitchFamily="34" charset="0"/>
              </a:defRPr>
            </a:lvl2pPr>
            <a:lvl3pPr>
              <a:defRPr sz="2400">
                <a:latin typeface="Helvetica" pitchFamily="34" charset="0"/>
              </a:defRPr>
            </a:lvl3pPr>
            <a:lvl4pPr>
              <a:defRPr sz="2400">
                <a:latin typeface="Helvetica" pitchFamily="34" charset="0"/>
              </a:defRPr>
            </a:lvl4pPr>
            <a:lvl5pPr>
              <a:defRPr sz="2400">
                <a:latin typeface="Helvetica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1048900" name="Date Placeholder 3"/>
          <p:cNvSpPr>
            <a:spLocks noGrp="1"/>
          </p:cNvSpPr>
          <p:nvPr>
            <p:ph type="dt" sz="half" idx="10"/>
          </p:nvPr>
        </p:nvSpPr>
        <p:spPr>
          <a:xfrm>
            <a:off x="1600200" y="6569075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90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9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69075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ckground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Picture 7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2" y="0"/>
            <a:ext cx="9140956" cy="6857999"/>
          </a:xfrm>
          <a:prstGeom prst="rect"/>
        </p:spPr>
      </p:pic>
      <p:sp>
        <p:nvSpPr>
          <p:cNvPr id="104890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848600" cy="960438"/>
          </a:xfrm>
        </p:spPr>
        <p:txBody>
          <a:bodyPr>
            <a:normAutofit/>
          </a:bodyPr>
          <a:lstStyle>
            <a:lvl1pPr algn="l">
              <a:defRPr b="1" sz="3200" i="1">
                <a:latin typeface="Helvetica" pitchFamily="34" charset="0"/>
              </a:defRPr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1048904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848600" cy="4525963"/>
          </a:xfrm>
        </p:spPr>
        <p:txBody>
          <a:bodyPr>
            <a:normAutofit/>
          </a:bodyPr>
          <a:lstStyle>
            <a:lvl1pPr>
              <a:defRPr sz="2400">
                <a:latin typeface="Helvetica" pitchFamily="34" charset="0"/>
              </a:defRPr>
            </a:lvl1pPr>
            <a:lvl2pPr>
              <a:defRPr sz="2400">
                <a:latin typeface="Helvetica" pitchFamily="34" charset="0"/>
              </a:defRPr>
            </a:lvl2pPr>
            <a:lvl3pPr>
              <a:defRPr sz="2400">
                <a:latin typeface="Helvetica" pitchFamily="34" charset="0"/>
              </a:defRPr>
            </a:lvl3pPr>
            <a:lvl4pPr>
              <a:defRPr sz="2400">
                <a:latin typeface="Helvetica" pitchFamily="34" charset="0"/>
              </a:defRPr>
            </a:lvl4pPr>
            <a:lvl5pPr>
              <a:defRPr sz="2400">
                <a:latin typeface="Helvetica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1048905" name="Date Placeholder 3"/>
          <p:cNvSpPr>
            <a:spLocks noGrp="1"/>
          </p:cNvSpPr>
          <p:nvPr>
            <p:ph type="dt" sz="half" idx="10"/>
          </p:nvPr>
        </p:nvSpPr>
        <p:spPr>
          <a:xfrm>
            <a:off x="2209800" y="6553200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90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9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257800" y="6553200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Frame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3" name="Picture 9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85" y="48"/>
            <a:ext cx="9140828" cy="6857904"/>
          </a:xfrm>
          <a:prstGeom prst="rect"/>
        </p:spPr>
      </p:pic>
      <p:sp>
        <p:nvSpPr>
          <p:cNvPr id="1048888" name="Content Placeholder 2"/>
          <p:cNvSpPr>
            <a:spLocks noGrp="1"/>
          </p:cNvSpPr>
          <p:nvPr>
            <p:ph idx="1"/>
          </p:nvPr>
        </p:nvSpPr>
        <p:spPr>
          <a:xfrm>
            <a:off x="5638800" y="1219200"/>
            <a:ext cx="3048000" cy="3962400"/>
          </a:xfrm>
        </p:spPr>
        <p:txBody>
          <a:bodyPr anchor="ctr" anchorCtr="0"/>
          <a:lstStyle>
            <a:lvl1pPr algn="ctr" indent="0" marL="0">
              <a:buNone/>
              <a:defRPr b="1" i="1">
                <a:latin typeface="Helvetica" pitchFamily="34" charset="0"/>
              </a:defRPr>
            </a:lvl1pPr>
            <a:lvl2pPr>
              <a:defRPr>
                <a:latin typeface="Helvetica" pitchFamily="34" charset="0"/>
              </a:defRPr>
            </a:lvl2pPr>
            <a:lvl3pPr>
              <a:defRPr>
                <a:latin typeface="Helvetica" pitchFamily="34" charset="0"/>
              </a:defRPr>
            </a:lvl3pPr>
            <a:lvl4pPr>
              <a:defRPr>
                <a:latin typeface="Helvetica" pitchFamily="34" charset="0"/>
              </a:defRPr>
            </a:lvl4pPr>
            <a:lvl5pPr>
              <a:defRPr>
                <a:latin typeface="Helvetica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</p:txBody>
      </p:sp>
      <p:sp>
        <p:nvSpPr>
          <p:cNvPr id="1048889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6569075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89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89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53000" y="6569075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89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239000" cy="6934200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Frame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1981200" y="0"/>
            <a:ext cx="7162800" cy="6858000"/>
          </a:xfrm>
        </p:spPr>
        <p:txBody>
          <a:bodyPr/>
          <a:p>
            <a:endParaRPr lang="en-US"/>
          </a:p>
        </p:txBody>
      </p:sp>
      <p:pic>
        <p:nvPicPr>
          <p:cNvPr id="2097187" name="Picture 7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48"/>
            <a:ext cx="9140828" cy="6857904"/>
          </a:xfrm>
          <a:prstGeom prst="rect"/>
        </p:spPr>
      </p:pic>
      <p:sp>
        <p:nvSpPr>
          <p:cNvPr id="1048909" name="Date Placeholder 3"/>
          <p:cNvSpPr>
            <a:spLocks noGrp="1"/>
          </p:cNvSpPr>
          <p:nvPr>
            <p:ph type="dt" sz="half" idx="10"/>
          </p:nvPr>
        </p:nvSpPr>
        <p:spPr>
          <a:xfrm>
            <a:off x="1981200" y="6569075"/>
            <a:ext cx="2133600" cy="365125"/>
          </a:xfrm>
        </p:spPr>
        <p:txBody>
          <a:bodyPr/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9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019800"/>
            <a:ext cx="2895600" cy="365125"/>
          </a:xfrm>
        </p:spPr>
        <p:txBody>
          <a:bodyPr/>
          <a:p>
            <a:endParaRPr dirty="0" lang="en-US"/>
          </a:p>
        </p:txBody>
      </p:sp>
      <p:sp>
        <p:nvSpPr>
          <p:cNvPr id="10489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69075"/>
            <a:ext cx="2133600" cy="365125"/>
          </a:xfrm>
        </p:spPr>
        <p:txBody>
          <a:bodyPr/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912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3048000" cy="3962400"/>
          </a:xfrm>
        </p:spPr>
        <p:txBody>
          <a:bodyPr anchor="ctr" anchorCtr="0"/>
          <a:lstStyle>
            <a:lvl1pPr algn="ctr" indent="0" marL="0">
              <a:buNone/>
              <a:defRPr b="1" i="1">
                <a:latin typeface="Helvetica" pitchFamily="34" charset="0"/>
              </a:defRPr>
            </a:lvl1pPr>
            <a:lvl2pPr>
              <a:defRPr>
                <a:latin typeface="Helvetica" pitchFamily="34" charset="0"/>
              </a:defRPr>
            </a:lvl2pPr>
            <a:lvl3pPr>
              <a:defRPr>
                <a:latin typeface="Helvetica" pitchFamily="34" charset="0"/>
              </a:defRPr>
            </a:lvl3pPr>
            <a:lvl4pPr>
              <a:defRPr>
                <a:latin typeface="Helvetica" pitchFamily="34" charset="0"/>
              </a:defRPr>
            </a:lvl4pPr>
            <a:lvl5pPr>
              <a:defRPr>
                <a:latin typeface="Helvetica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dirty="0"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F5EA7-107B-4958-AAF4-7ECA4B5DB1F0}" type="datetimeFigureOut">
              <a:rPr lang="en-US" smtClean="0"/>
              <a:t>3/26/2026</a:t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E2979-A321-4C2D-BAF7-B76C36B8CC64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emf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emf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emf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dirty="0" lang="en-US"/>
              <a:t>Database Design: Inheritance and Complex Rules in Logical Models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dirty="0" lang="en-US"/>
              <a:t>Instructor: And Harr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0" dirty="0" i="0" lang="en-US"/>
              <a:t>Enhanced ER Models	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/>
              <a:t>Objectives:</a:t>
            </a:r>
          </a:p>
          <a:p>
            <a:pPr lvl="1"/>
            <a:r>
              <a:rPr dirty="0" lang="en-US"/>
              <a:t>Review complex relationships and inheritance</a:t>
            </a:r>
          </a:p>
          <a:p>
            <a:pPr lvl="2"/>
            <a:r>
              <a:rPr dirty="0" lang="en-US"/>
              <a:t>Specialization</a:t>
            </a:r>
          </a:p>
          <a:p>
            <a:pPr lvl="2"/>
            <a:r>
              <a:rPr dirty="0" lang="en-US"/>
              <a:t>Categorization</a:t>
            </a:r>
          </a:p>
          <a:p>
            <a:pPr lvl="2"/>
            <a:r>
              <a:rPr dirty="0" lang="en-US"/>
              <a:t>Aggregation</a:t>
            </a:r>
          </a:p>
          <a:p>
            <a:pPr lvl="1"/>
            <a:r>
              <a:rPr dirty="0" lang="en-US"/>
              <a:t>Learn how EER modeling grammar is modeled, validated, and implemented using the logical model</a:t>
            </a:r>
          </a:p>
          <a:p>
            <a:pPr lvl="1"/>
            <a:endParaRPr dirty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What is the EER?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/>
              <a:t>An extension to ER modeling that allows more complex relationships to be modeled</a:t>
            </a:r>
          </a:p>
          <a:p>
            <a:pPr lvl="1"/>
            <a:r>
              <a:rPr dirty="0" lang="en-US"/>
              <a:t>Some complex relationships could only be retained in semantic integrity constraints</a:t>
            </a:r>
          </a:p>
          <a:p>
            <a:r>
              <a:rPr dirty="0" lang="en-US"/>
              <a:t>Modeling grammar allows the addition of superclass/subclass relationships which model:</a:t>
            </a:r>
          </a:p>
          <a:p>
            <a:pPr lvl="1"/>
            <a:r>
              <a:rPr dirty="0" lang="en-US"/>
              <a:t>Specialization/generalization</a:t>
            </a:r>
          </a:p>
          <a:p>
            <a:pPr lvl="1"/>
            <a:r>
              <a:rPr dirty="0" lang="en-US"/>
              <a:t>Categorization</a:t>
            </a:r>
          </a:p>
          <a:p>
            <a:pPr lvl="1"/>
            <a:r>
              <a:rPr dirty="0" lang="en-US"/>
              <a:t>Aggregation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Fine Grained DS-ERM</a:t>
            </a:r>
          </a:p>
        </p:txBody>
      </p:sp>
      <p:pic>
        <p:nvPicPr>
          <p:cNvPr id="2097154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 rot="10800000">
            <a:off x="533399" y="1066800"/>
            <a:ext cx="7772400" cy="4494475"/>
          </a:xfrm>
          <a:prstGeom prst="rect"/>
          <a:noFill/>
          <a:ln>
            <a:noFill/>
          </a:ln>
          <a:scene3d>
            <a:camera prst="orthographicFront">
              <a:rot lat="0" lon="21599986" rev="60000"/>
            </a:camera>
            <a:lightRig dir="t" rig="threePt"/>
          </a:scene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Converting to Logical Model</a:t>
            </a:r>
          </a:p>
        </p:txBody>
      </p:sp>
      <p:pic>
        <p:nvPicPr>
          <p:cNvPr id="2097155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09600" y="1143000"/>
            <a:ext cx="7696200" cy="4419600"/>
          </a:xfrm>
          <a:prstGeom prst="rect"/>
          <a:noFill/>
          <a:ln>
            <a:noFill/>
          </a:ln>
          <a:scene3d>
            <a:camera prst="orthographicFront">
              <a:rot lat="0" lon="0" rev="21540000"/>
            </a:camera>
            <a:lightRig dir="t" rig="threePt"/>
          </a:scene3d>
        </p:spPr>
      </p:pic>
      <p:sp>
        <p:nvSpPr>
          <p:cNvPr id="1048599" name="TextBox 2"/>
          <p:cNvSpPr txBox="1"/>
          <p:nvPr/>
        </p:nvSpPr>
        <p:spPr>
          <a:xfrm>
            <a:off x="5257800" y="1295400"/>
            <a:ext cx="3124200" cy="8915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Could this be combined into  single table? </a:t>
            </a:r>
          </a:p>
          <a:p>
            <a:r>
              <a:rPr dirty="0" lang="en-US"/>
              <a:t>Or 3 Tables?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Converting to Logical Model</a:t>
            </a:r>
          </a:p>
        </p:txBody>
      </p:sp>
      <p:pic>
        <p:nvPicPr>
          <p:cNvPr id="2097156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09600" y="1113802"/>
            <a:ext cx="7696200" cy="4419600"/>
          </a:xfrm>
          <a:prstGeom prst="rect"/>
          <a:noFill/>
          <a:ln>
            <a:noFill/>
          </a:ln>
          <a:scene3d>
            <a:camera prst="orthographicFront">
              <a:rot lat="0" lon="0" rev="21540000"/>
            </a:camera>
            <a:lightRig dir="t" rig="threePt"/>
          </a:scene3d>
        </p:spPr>
      </p:pic>
      <p:sp>
        <p:nvSpPr>
          <p:cNvPr id="1048601" name="Oval 5"/>
          <p:cNvSpPr/>
          <p:nvPr/>
        </p:nvSpPr>
        <p:spPr>
          <a:xfrm>
            <a:off x="2514600" y="1717897"/>
            <a:ext cx="228600" cy="230736"/>
          </a:xfrm>
          <a:prstGeom prst="ellipse"/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2" name="TextBox 4"/>
          <p:cNvSpPr txBox="1"/>
          <p:nvPr/>
        </p:nvSpPr>
        <p:spPr>
          <a:xfrm>
            <a:off x="5105400" y="1371600"/>
            <a:ext cx="2895600" cy="11582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solidFill>
                  <a:srgbClr val="FF0000"/>
                </a:solidFill>
              </a:rPr>
              <a:t>Why 0, why 3?</a:t>
            </a:r>
          </a:p>
          <a:p>
            <a:r>
              <a:rPr dirty="0" lang="en-US">
                <a:solidFill>
                  <a:srgbClr val="92D050"/>
                </a:solidFill>
              </a:rPr>
              <a:t>Why 0, why 1?</a:t>
            </a:r>
          </a:p>
          <a:p>
            <a:r>
              <a:rPr dirty="0" lang="en-US">
                <a:solidFill>
                  <a:srgbClr val="7030A0"/>
                </a:solidFill>
              </a:rPr>
              <a:t>Why o, d1, d2?</a:t>
            </a:r>
          </a:p>
          <a:p>
            <a:endParaRPr dirty="0" lang="en-US">
              <a:solidFill>
                <a:srgbClr val="FF0000"/>
              </a:solidFill>
            </a:endParaRPr>
          </a:p>
        </p:txBody>
      </p:sp>
      <p:sp>
        <p:nvSpPr>
          <p:cNvPr id="1048603" name="Oval 7"/>
          <p:cNvSpPr/>
          <p:nvPr/>
        </p:nvSpPr>
        <p:spPr>
          <a:xfrm>
            <a:off x="2496796" y="2438400"/>
            <a:ext cx="228600" cy="230736"/>
          </a:xfrm>
          <a:prstGeom prst="ellipse"/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4" name="Oval 8"/>
          <p:cNvSpPr/>
          <p:nvPr/>
        </p:nvSpPr>
        <p:spPr>
          <a:xfrm>
            <a:off x="1981200" y="2475432"/>
            <a:ext cx="228600" cy="230736"/>
          </a:xfrm>
          <a:prstGeom prst="ellipse"/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048605" name="Oval 9"/>
          <p:cNvSpPr/>
          <p:nvPr/>
        </p:nvSpPr>
        <p:spPr>
          <a:xfrm>
            <a:off x="1981200" y="1717897"/>
            <a:ext cx="228600" cy="230736"/>
          </a:xfrm>
          <a:prstGeom prst="ellipse"/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048606" name="Oval 10"/>
          <p:cNvSpPr/>
          <p:nvPr/>
        </p:nvSpPr>
        <p:spPr>
          <a:xfrm>
            <a:off x="2446590" y="2247544"/>
            <a:ext cx="228600" cy="230736"/>
          </a:xfrm>
          <a:prstGeom prst="ellipse"/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048607" name="Oval 11"/>
          <p:cNvSpPr/>
          <p:nvPr/>
        </p:nvSpPr>
        <p:spPr>
          <a:xfrm>
            <a:off x="6438900" y="3048000"/>
            <a:ext cx="228600" cy="230736"/>
          </a:xfrm>
          <a:prstGeom prst="ellipse"/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048608" name="Oval 12"/>
          <p:cNvSpPr/>
          <p:nvPr/>
        </p:nvSpPr>
        <p:spPr>
          <a:xfrm>
            <a:off x="2416324" y="5302666"/>
            <a:ext cx="228600" cy="230736"/>
          </a:xfrm>
          <a:prstGeom prst="ellipse"/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Converting to Logical Model</a:t>
            </a:r>
          </a:p>
        </p:txBody>
      </p:sp>
      <p:pic>
        <p:nvPicPr>
          <p:cNvPr id="2097157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587523" y="1113802"/>
            <a:ext cx="7696200" cy="4419600"/>
          </a:xfrm>
          <a:prstGeom prst="rect"/>
          <a:noFill/>
          <a:ln>
            <a:noFill/>
          </a:ln>
          <a:scene3d>
            <a:camera prst="orthographicFront">
              <a:rot lat="0" lon="0" rev="21540000"/>
            </a:camera>
            <a:lightRig dir="t" rig="threePt"/>
          </a:scene3d>
        </p:spPr>
      </p:pic>
      <p:sp>
        <p:nvSpPr>
          <p:cNvPr id="1048610" name="Oval 3"/>
          <p:cNvSpPr/>
          <p:nvPr/>
        </p:nvSpPr>
        <p:spPr>
          <a:xfrm>
            <a:off x="1600200" y="3124200"/>
            <a:ext cx="2514600" cy="990600"/>
          </a:xfrm>
          <a:prstGeom prst="ellipse"/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11" name="Oval 5"/>
          <p:cNvSpPr/>
          <p:nvPr/>
        </p:nvSpPr>
        <p:spPr>
          <a:xfrm>
            <a:off x="1676400" y="1602336"/>
            <a:ext cx="1905000" cy="838200"/>
          </a:xfrm>
          <a:prstGeom prst="ellipse"/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12" name="TextBox 4"/>
          <p:cNvSpPr txBox="1"/>
          <p:nvPr/>
        </p:nvSpPr>
        <p:spPr>
          <a:xfrm>
            <a:off x="5257800" y="1371600"/>
            <a:ext cx="2895600" cy="8915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solidFill>
                  <a:srgbClr val="FF0000"/>
                </a:solidFill>
              </a:rPr>
              <a:t>These represent fundamentally different approaches – why?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Ramifications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449366" y="2209800"/>
            <a:ext cx="8229600" cy="2971800"/>
          </a:xfrm>
        </p:spPr>
        <p:txBody>
          <a:bodyPr>
            <a:normAutofit fontScale="87500" lnSpcReduction="20000"/>
          </a:bodyPr>
          <a:p>
            <a:r>
              <a:rPr dirty="0" lang="en-US"/>
              <a:t>When using this approach, does a football player have to be a student athlete?</a:t>
            </a:r>
          </a:p>
          <a:p>
            <a:pPr lvl="1"/>
            <a:r>
              <a:rPr dirty="0" lang="en-US"/>
              <a:t>Does this change any FD’s?</a:t>
            </a:r>
          </a:p>
          <a:p>
            <a:pPr lvl="1"/>
            <a:r>
              <a:rPr dirty="0" lang="en-US"/>
              <a:t>Does this change any MVD’s?</a:t>
            </a:r>
          </a:p>
          <a:p>
            <a:pPr lvl="1"/>
            <a:r>
              <a:rPr dirty="0" lang="en-US"/>
              <a:t>Does this change any JD’s?</a:t>
            </a:r>
          </a:p>
          <a:p>
            <a:endParaRPr dirty="0" lang="en-US"/>
          </a:p>
          <a:p>
            <a:r>
              <a:rPr dirty="0" lang="en-US"/>
              <a:t>Are there any problems associated with this model specification?</a:t>
            </a:r>
          </a:p>
          <a:p>
            <a:pPr lvl="1"/>
            <a:r>
              <a:rPr dirty="0" lang="en-US"/>
              <a:t>How are the problems related to the assumptions of the model?</a:t>
            </a:r>
          </a:p>
          <a:p>
            <a:pPr lvl="1"/>
            <a:r>
              <a:rPr dirty="0" lang="en-US"/>
              <a:t>How would you resolve them? </a:t>
            </a:r>
          </a:p>
        </p:txBody>
      </p:sp>
      <p:pic>
        <p:nvPicPr>
          <p:cNvPr id="2097158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14400" y="1371600"/>
            <a:ext cx="4595812" cy="700417"/>
          </a:xfrm>
          <a:prstGeom prst="rect"/>
          <a:noFill/>
          <a:ln>
            <a:noFill/>
          </a:ln>
          <a:scene3d>
            <a:camera prst="orthographicFront">
              <a:rot lat="0" lon="0" rev="21540000"/>
            </a:camera>
            <a:lightRig dir="t" rig="threePt"/>
          </a:scene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Ramifications</a:t>
            </a: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>
          <a:xfrm>
            <a:off x="449366" y="2209800"/>
            <a:ext cx="8229600" cy="2971800"/>
          </a:xfrm>
        </p:spPr>
        <p:txBody>
          <a:bodyPr>
            <a:normAutofit fontScale="87500" lnSpcReduction="20000"/>
          </a:bodyPr>
          <a:p>
            <a:r>
              <a:rPr dirty="0" lang="en-US"/>
              <a:t>When using this approach, does a basketball player have to be a student athlete?</a:t>
            </a:r>
          </a:p>
          <a:p>
            <a:pPr lvl="1"/>
            <a:r>
              <a:rPr dirty="0" lang="en-US"/>
              <a:t>Does this change any FD’s?</a:t>
            </a:r>
          </a:p>
          <a:p>
            <a:pPr lvl="1"/>
            <a:r>
              <a:rPr dirty="0" lang="en-US"/>
              <a:t>Does this change any MVD’s?</a:t>
            </a:r>
          </a:p>
          <a:p>
            <a:pPr lvl="1"/>
            <a:r>
              <a:rPr dirty="0" lang="en-US"/>
              <a:t>Does this change any JD’s?</a:t>
            </a:r>
          </a:p>
          <a:p>
            <a:endParaRPr dirty="0" lang="en-US"/>
          </a:p>
          <a:p>
            <a:r>
              <a:rPr dirty="0" lang="en-US"/>
              <a:t>Are there any problems associated with this model specification?</a:t>
            </a:r>
          </a:p>
          <a:p>
            <a:pPr lvl="1"/>
            <a:r>
              <a:rPr dirty="0" lang="en-US"/>
              <a:t>How are the problems related to the assumptions of the model?</a:t>
            </a:r>
          </a:p>
          <a:p>
            <a:pPr lvl="1"/>
            <a:r>
              <a:rPr dirty="0" lang="en-US"/>
              <a:t>How would you resolve them? </a:t>
            </a:r>
          </a:p>
        </p:txBody>
      </p:sp>
      <p:pic>
        <p:nvPicPr>
          <p:cNvPr id="2097159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06388" y="1295400"/>
            <a:ext cx="7277100" cy="81915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Test It</a:t>
            </a:r>
          </a:p>
        </p:txBody>
      </p:sp>
      <p:pic>
        <p:nvPicPr>
          <p:cNvPr id="2097160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800600" y="1076322"/>
            <a:ext cx="3684170" cy="3962401"/>
          </a:xfrm>
          <a:prstGeom prst="rect"/>
        </p:spPr>
      </p:pic>
      <p:pic>
        <p:nvPicPr>
          <p:cNvPr id="2097161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990598"/>
            <a:ext cx="4120252" cy="4048125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What Happened?</a:t>
            </a:r>
          </a:p>
        </p:txBody>
      </p:sp>
      <p:pic>
        <p:nvPicPr>
          <p:cNvPr id="2097162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33400" y="1524000"/>
            <a:ext cx="6238875" cy="676275"/>
          </a:xfrm>
          <a:prstGeom prst="rect"/>
        </p:spPr>
      </p:pic>
      <p:pic>
        <p:nvPicPr>
          <p:cNvPr id="209716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33400" y="3030379"/>
            <a:ext cx="6257925" cy="600075"/>
          </a:xfrm>
          <a:prstGeom prst="rect"/>
        </p:spPr>
      </p:pic>
      <p:pic>
        <p:nvPicPr>
          <p:cNvPr id="2097164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42544" y="935355"/>
            <a:ext cx="2638425" cy="504825"/>
          </a:xfrm>
          <a:prstGeom prst="rect"/>
        </p:spPr>
      </p:pic>
      <p:pic>
        <p:nvPicPr>
          <p:cNvPr id="2097165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42544" y="2367439"/>
            <a:ext cx="3048000" cy="495300"/>
          </a:xfrm>
          <a:prstGeom prst="rect"/>
        </p:spPr>
      </p:pic>
      <p:pic>
        <p:nvPicPr>
          <p:cNvPr id="2097166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521208" y="3798094"/>
            <a:ext cx="3295650" cy="466725"/>
          </a:xfrm>
          <a:prstGeom prst="rect"/>
        </p:spPr>
      </p:pic>
      <p:pic>
        <p:nvPicPr>
          <p:cNvPr id="2097167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542544" y="4390549"/>
            <a:ext cx="5238750" cy="99060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Example</a:t>
            </a:r>
          </a:p>
        </p:txBody>
      </p:sp>
      <p:sp>
        <p:nvSpPr>
          <p:cNvPr id="1048620" name="TextBox 4"/>
          <p:cNvSpPr txBox="1"/>
          <p:nvPr/>
        </p:nvSpPr>
        <p:spPr>
          <a:xfrm>
            <a:off x="2590800" y="352895"/>
            <a:ext cx="426720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Convert this DS-ERD to a logical model; notice unique ID’s are missing</a:t>
            </a:r>
          </a:p>
        </p:txBody>
      </p:sp>
      <p:pic>
        <p:nvPicPr>
          <p:cNvPr id="2097168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8600" y="990600"/>
            <a:ext cx="8724900" cy="5145027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Create Arc-Directed Model</a:t>
            </a:r>
          </a:p>
        </p:txBody>
      </p:sp>
      <p:pic>
        <p:nvPicPr>
          <p:cNvPr id="2097169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676400" y="1066800"/>
            <a:ext cx="6219939" cy="4254500"/>
          </a:xfrm>
          <a:prstGeom prst="rect"/>
        </p:spPr>
      </p:pic>
      <p:sp>
        <p:nvSpPr>
          <p:cNvPr id="1048622" name="Freeform 4"/>
          <p:cNvSpPr/>
          <p:nvPr/>
        </p:nvSpPr>
        <p:spPr>
          <a:xfrm>
            <a:off x="1177500" y="3505200"/>
            <a:ext cx="517591" cy="1431984"/>
          </a:xfrm>
          <a:custGeom>
            <a:avLst/>
            <a:gdLst>
              <a:gd name="connsiteX0" fmla="*/ 517591 w 517591"/>
              <a:gd name="connsiteY0" fmla="*/ 1431984 h 1431984"/>
              <a:gd name="connsiteX1" fmla="*/ 6 w 517591"/>
              <a:gd name="connsiteY1" fmla="*/ 569343 h 1431984"/>
              <a:gd name="connsiteX2" fmla="*/ 508965 w 517591"/>
              <a:gd name="connsiteY2" fmla="*/ 0 h 1431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591" h="1431984">
                <a:moveTo>
                  <a:pt x="517591" y="1431984"/>
                </a:moveTo>
                <a:cubicBezTo>
                  <a:pt x="259517" y="1119995"/>
                  <a:pt x="1444" y="808007"/>
                  <a:pt x="6" y="569343"/>
                </a:cubicBezTo>
                <a:cubicBezTo>
                  <a:pt x="-1432" y="330679"/>
                  <a:pt x="253766" y="165339"/>
                  <a:pt x="508965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3" name="Freeform 6"/>
          <p:cNvSpPr/>
          <p:nvPr/>
        </p:nvSpPr>
        <p:spPr>
          <a:xfrm>
            <a:off x="1427661" y="3739551"/>
            <a:ext cx="267430" cy="655607"/>
          </a:xfrm>
          <a:custGeom>
            <a:avLst/>
            <a:gdLst>
              <a:gd name="connsiteX0" fmla="*/ 267430 w 267430"/>
              <a:gd name="connsiteY0" fmla="*/ 655607 h 655607"/>
              <a:gd name="connsiteX1" fmla="*/ 11 w 267430"/>
              <a:gd name="connsiteY1" fmla="*/ 198407 h 655607"/>
              <a:gd name="connsiteX2" fmla="*/ 258803 w 267430"/>
              <a:gd name="connsiteY2" fmla="*/ 0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430" h="655607">
                <a:moveTo>
                  <a:pt x="267430" y="655607"/>
                </a:moveTo>
                <a:cubicBezTo>
                  <a:pt x="134439" y="481641"/>
                  <a:pt x="1449" y="307675"/>
                  <a:pt x="11" y="198407"/>
                </a:cubicBezTo>
                <a:cubicBezTo>
                  <a:pt x="-1427" y="89139"/>
                  <a:pt x="128688" y="44569"/>
                  <a:pt x="258803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4" name="Freeform 7"/>
          <p:cNvSpPr/>
          <p:nvPr/>
        </p:nvSpPr>
        <p:spPr>
          <a:xfrm>
            <a:off x="1436295" y="1311216"/>
            <a:ext cx="267430" cy="655607"/>
          </a:xfrm>
          <a:custGeom>
            <a:avLst/>
            <a:gdLst>
              <a:gd name="connsiteX0" fmla="*/ 267430 w 267430"/>
              <a:gd name="connsiteY0" fmla="*/ 655607 h 655607"/>
              <a:gd name="connsiteX1" fmla="*/ 11 w 267430"/>
              <a:gd name="connsiteY1" fmla="*/ 198407 h 655607"/>
              <a:gd name="connsiteX2" fmla="*/ 258803 w 267430"/>
              <a:gd name="connsiteY2" fmla="*/ 0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430" h="655607">
                <a:moveTo>
                  <a:pt x="267430" y="655607"/>
                </a:moveTo>
                <a:cubicBezTo>
                  <a:pt x="134439" y="481641"/>
                  <a:pt x="1449" y="307675"/>
                  <a:pt x="11" y="198407"/>
                </a:cubicBezTo>
                <a:cubicBezTo>
                  <a:pt x="-1427" y="89139"/>
                  <a:pt x="128688" y="44569"/>
                  <a:pt x="258803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5" name="Freeform 10"/>
          <p:cNvSpPr/>
          <p:nvPr/>
        </p:nvSpPr>
        <p:spPr>
          <a:xfrm>
            <a:off x="410073" y="2122098"/>
            <a:ext cx="3307912" cy="3512401"/>
          </a:xfrm>
          <a:custGeom>
            <a:avLst/>
            <a:gdLst>
              <a:gd name="connsiteX0" fmla="*/ 3307912 w 3307912"/>
              <a:gd name="connsiteY0" fmla="*/ 3174521 h 3512401"/>
              <a:gd name="connsiteX1" fmla="*/ 987406 w 3307912"/>
              <a:gd name="connsiteY1" fmla="*/ 3381555 h 3512401"/>
              <a:gd name="connsiteX2" fmla="*/ 3995 w 3307912"/>
              <a:gd name="connsiteY2" fmla="*/ 1431985 h 3512401"/>
              <a:gd name="connsiteX3" fmla="*/ 1306584 w 3307912"/>
              <a:gd name="connsiteY3" fmla="*/ 0 h 351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7912" h="3512401">
                <a:moveTo>
                  <a:pt x="3307912" y="3174521"/>
                </a:moveTo>
                <a:cubicBezTo>
                  <a:pt x="2422985" y="3423249"/>
                  <a:pt x="1538059" y="3671978"/>
                  <a:pt x="987406" y="3381555"/>
                </a:cubicBezTo>
                <a:cubicBezTo>
                  <a:pt x="436753" y="3091132"/>
                  <a:pt x="-49201" y="1995577"/>
                  <a:pt x="3995" y="1431985"/>
                </a:cubicBezTo>
                <a:cubicBezTo>
                  <a:pt x="57191" y="868393"/>
                  <a:pt x="681887" y="434196"/>
                  <a:pt x="1306584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6" name="Freeform 11"/>
          <p:cNvSpPr/>
          <p:nvPr/>
        </p:nvSpPr>
        <p:spPr>
          <a:xfrm>
            <a:off x="1739359" y="1518249"/>
            <a:ext cx="6559345" cy="3338423"/>
          </a:xfrm>
          <a:custGeom>
            <a:avLst/>
            <a:gdLst>
              <a:gd name="connsiteX0" fmla="*/ 5386060 w 6559345"/>
              <a:gd name="connsiteY0" fmla="*/ 0 h 3338423"/>
              <a:gd name="connsiteX1" fmla="*/ 6559252 w 6559345"/>
              <a:gd name="connsiteY1" fmla="*/ 1285336 h 3338423"/>
              <a:gd name="connsiteX2" fmla="*/ 5334301 w 6559345"/>
              <a:gd name="connsiteY2" fmla="*/ 3088257 h 3338423"/>
              <a:gd name="connsiteX3" fmla="*/ 684664 w 6559345"/>
              <a:gd name="connsiteY3" fmla="*/ 3200400 h 3338423"/>
              <a:gd name="connsiteX4" fmla="*/ 115320 w 6559345"/>
              <a:gd name="connsiteY4" fmla="*/ 3338423 h 333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345" h="3338423">
                <a:moveTo>
                  <a:pt x="5386060" y="0"/>
                </a:moveTo>
                <a:cubicBezTo>
                  <a:pt x="5976969" y="385313"/>
                  <a:pt x="6567878" y="770627"/>
                  <a:pt x="6559252" y="1285336"/>
                </a:cubicBezTo>
                <a:cubicBezTo>
                  <a:pt x="6550626" y="1800045"/>
                  <a:pt x="6313399" y="2769080"/>
                  <a:pt x="5334301" y="3088257"/>
                </a:cubicBezTo>
                <a:cubicBezTo>
                  <a:pt x="4355203" y="3407434"/>
                  <a:pt x="1554494" y="3158706"/>
                  <a:pt x="684664" y="3200400"/>
                </a:cubicBezTo>
                <a:cubicBezTo>
                  <a:pt x="-185166" y="3242094"/>
                  <a:pt x="-34923" y="3290258"/>
                  <a:pt x="115320" y="333842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7" name="Freeform 12"/>
          <p:cNvSpPr/>
          <p:nvPr/>
        </p:nvSpPr>
        <p:spPr>
          <a:xfrm>
            <a:off x="1874059" y="3096883"/>
            <a:ext cx="4382379" cy="1224951"/>
          </a:xfrm>
          <a:custGeom>
            <a:avLst/>
            <a:gdLst>
              <a:gd name="connsiteX0" fmla="*/ 2249367 w 4382379"/>
              <a:gd name="connsiteY0" fmla="*/ 1224951 h 1224951"/>
              <a:gd name="connsiteX1" fmla="*/ 4155805 w 4382379"/>
              <a:gd name="connsiteY1" fmla="*/ 819509 h 1224951"/>
              <a:gd name="connsiteX2" fmla="*/ 3940145 w 4382379"/>
              <a:gd name="connsiteY2" fmla="*/ 181155 h 1224951"/>
              <a:gd name="connsiteX3" fmla="*/ 515458 w 4382379"/>
              <a:gd name="connsiteY3" fmla="*/ 120770 h 1224951"/>
              <a:gd name="connsiteX4" fmla="*/ 75511 w 4382379"/>
              <a:gd name="connsiteY4" fmla="*/ 0 h 12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2379" h="1224951">
                <a:moveTo>
                  <a:pt x="2249367" y="1224951"/>
                </a:moveTo>
                <a:cubicBezTo>
                  <a:pt x="3061688" y="1109213"/>
                  <a:pt x="3874009" y="993475"/>
                  <a:pt x="4155805" y="819509"/>
                </a:cubicBezTo>
                <a:cubicBezTo>
                  <a:pt x="4437601" y="645543"/>
                  <a:pt x="4546869" y="297611"/>
                  <a:pt x="3940145" y="181155"/>
                </a:cubicBezTo>
                <a:cubicBezTo>
                  <a:pt x="3333421" y="64699"/>
                  <a:pt x="1159564" y="150962"/>
                  <a:pt x="515458" y="120770"/>
                </a:cubicBezTo>
                <a:cubicBezTo>
                  <a:pt x="-128648" y="90577"/>
                  <a:pt x="-26569" y="45288"/>
                  <a:pt x="75511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8" name="Freeform 2"/>
          <p:cNvSpPr/>
          <p:nvPr/>
        </p:nvSpPr>
        <p:spPr>
          <a:xfrm>
            <a:off x="158546" y="1500996"/>
            <a:ext cx="4489653" cy="4239131"/>
          </a:xfrm>
          <a:custGeom>
            <a:avLst/>
            <a:gdLst>
              <a:gd name="connsiteX0" fmla="*/ 3680208 w 3680208"/>
              <a:gd name="connsiteY0" fmla="*/ 3786996 h 4239131"/>
              <a:gd name="connsiteX1" fmla="*/ 2325861 w 3680208"/>
              <a:gd name="connsiteY1" fmla="*/ 4235570 h 4239131"/>
              <a:gd name="connsiteX2" fmla="*/ 229642 w 3680208"/>
              <a:gd name="connsiteY2" fmla="*/ 3571336 h 4239131"/>
              <a:gd name="connsiteX3" fmla="*/ 203762 w 3680208"/>
              <a:gd name="connsiteY3" fmla="*/ 1431985 h 4239131"/>
              <a:gd name="connsiteX4" fmla="*/ 1558110 w 3680208"/>
              <a:gd name="connsiteY4" fmla="*/ 0 h 42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0208" h="4239131">
                <a:moveTo>
                  <a:pt x="3680208" y="3786996"/>
                </a:moveTo>
                <a:cubicBezTo>
                  <a:pt x="3290581" y="4029254"/>
                  <a:pt x="2900955" y="4271513"/>
                  <a:pt x="2325861" y="4235570"/>
                </a:cubicBezTo>
                <a:cubicBezTo>
                  <a:pt x="1750767" y="4199627"/>
                  <a:pt x="583325" y="4038600"/>
                  <a:pt x="229642" y="3571336"/>
                </a:cubicBezTo>
                <a:cubicBezTo>
                  <a:pt x="-124041" y="3104072"/>
                  <a:pt x="-17649" y="2027208"/>
                  <a:pt x="203762" y="1431985"/>
                </a:cubicBezTo>
                <a:cubicBezTo>
                  <a:pt x="425173" y="836762"/>
                  <a:pt x="991641" y="418381"/>
                  <a:pt x="155811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70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238993" y="4850663"/>
            <a:ext cx="960406" cy="476646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533400" y="108447"/>
            <a:ext cx="6477000" cy="960120"/>
          </a:xfrm>
        </p:spPr>
        <p:txBody>
          <a:bodyPr/>
          <a:p>
            <a:r>
              <a:rPr dirty="0" lang="en-US"/>
              <a:t>Create Dependency Diagrams</a:t>
            </a:r>
          </a:p>
        </p:txBody>
      </p:sp>
      <p:pic>
        <p:nvPicPr>
          <p:cNvPr id="2097171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676400" y="1371600"/>
            <a:ext cx="6219939" cy="4254500"/>
          </a:xfrm>
          <a:prstGeom prst="rect"/>
        </p:spPr>
      </p:pic>
      <p:sp>
        <p:nvSpPr>
          <p:cNvPr id="1048630" name="Freeform 8"/>
          <p:cNvSpPr/>
          <p:nvPr/>
        </p:nvSpPr>
        <p:spPr>
          <a:xfrm>
            <a:off x="2130725" y="1008895"/>
            <a:ext cx="3795623" cy="310947"/>
          </a:xfrm>
          <a:custGeom>
            <a:avLst/>
            <a:gdLst>
              <a:gd name="connsiteX0" fmla="*/ 0 w 3795623"/>
              <a:gd name="connsiteY0" fmla="*/ 259189 h 310947"/>
              <a:gd name="connsiteX1" fmla="*/ 2570672 w 3795623"/>
              <a:gd name="connsiteY1" fmla="*/ 396 h 310947"/>
              <a:gd name="connsiteX2" fmla="*/ 3795623 w 3795623"/>
              <a:gd name="connsiteY2" fmla="*/ 310947 h 31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5623" h="310947">
                <a:moveTo>
                  <a:pt x="0" y="259189"/>
                </a:moveTo>
                <a:cubicBezTo>
                  <a:pt x="969034" y="125479"/>
                  <a:pt x="1938068" y="-8230"/>
                  <a:pt x="2570672" y="396"/>
                </a:cubicBezTo>
                <a:cubicBezTo>
                  <a:pt x="3203276" y="9022"/>
                  <a:pt x="3499449" y="159984"/>
                  <a:pt x="3795623" y="310947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1" name="Freeform 9"/>
          <p:cNvSpPr/>
          <p:nvPr/>
        </p:nvSpPr>
        <p:spPr>
          <a:xfrm>
            <a:off x="2070340" y="1043751"/>
            <a:ext cx="2984739" cy="284717"/>
          </a:xfrm>
          <a:custGeom>
            <a:avLst/>
            <a:gdLst>
              <a:gd name="connsiteX0" fmla="*/ 0 w 2984739"/>
              <a:gd name="connsiteY0" fmla="*/ 267464 h 284717"/>
              <a:gd name="connsiteX1" fmla="*/ 1811547 w 2984739"/>
              <a:gd name="connsiteY1" fmla="*/ 45 h 284717"/>
              <a:gd name="connsiteX2" fmla="*/ 2984739 w 2984739"/>
              <a:gd name="connsiteY2" fmla="*/ 284717 h 28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4739" h="284717">
                <a:moveTo>
                  <a:pt x="0" y="267464"/>
                </a:moveTo>
                <a:cubicBezTo>
                  <a:pt x="657045" y="132316"/>
                  <a:pt x="1314091" y="-2831"/>
                  <a:pt x="1811547" y="45"/>
                </a:cubicBezTo>
                <a:cubicBezTo>
                  <a:pt x="2309004" y="2920"/>
                  <a:pt x="2646871" y="143818"/>
                  <a:pt x="2984739" y="284717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2" name="Freeform 10"/>
          <p:cNvSpPr/>
          <p:nvPr/>
        </p:nvSpPr>
        <p:spPr>
          <a:xfrm>
            <a:off x="2097657" y="961350"/>
            <a:ext cx="4623758" cy="336678"/>
          </a:xfrm>
          <a:custGeom>
            <a:avLst/>
            <a:gdLst>
              <a:gd name="connsiteX0" fmla="*/ 0 w 4623758"/>
              <a:gd name="connsiteY0" fmla="*/ 293546 h 336678"/>
              <a:gd name="connsiteX1" fmla="*/ 3347049 w 4623758"/>
              <a:gd name="connsiteY1" fmla="*/ 248 h 336678"/>
              <a:gd name="connsiteX2" fmla="*/ 4623758 w 4623758"/>
              <a:gd name="connsiteY2" fmla="*/ 336678 h 33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23758" h="336678">
                <a:moveTo>
                  <a:pt x="0" y="293546"/>
                </a:moveTo>
                <a:cubicBezTo>
                  <a:pt x="1288211" y="143302"/>
                  <a:pt x="2576423" y="-6941"/>
                  <a:pt x="3347049" y="248"/>
                </a:cubicBezTo>
                <a:cubicBezTo>
                  <a:pt x="4117675" y="7437"/>
                  <a:pt x="4370716" y="172057"/>
                  <a:pt x="4623758" y="336678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3" name="Freeform 11"/>
          <p:cNvSpPr/>
          <p:nvPr/>
        </p:nvSpPr>
        <p:spPr>
          <a:xfrm>
            <a:off x="2130725" y="1956172"/>
            <a:ext cx="681486" cy="129420"/>
          </a:xfrm>
          <a:custGeom>
            <a:avLst/>
            <a:gdLst>
              <a:gd name="connsiteX0" fmla="*/ 0 w 681486"/>
              <a:gd name="connsiteY0" fmla="*/ 120794 h 129420"/>
              <a:gd name="connsiteX1" fmla="*/ 388188 w 681486"/>
              <a:gd name="connsiteY1" fmla="*/ 24 h 129420"/>
              <a:gd name="connsiteX2" fmla="*/ 681486 w 681486"/>
              <a:gd name="connsiteY2" fmla="*/ 129420 h 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1486" h="129420">
                <a:moveTo>
                  <a:pt x="0" y="120794"/>
                </a:moveTo>
                <a:cubicBezTo>
                  <a:pt x="137303" y="59690"/>
                  <a:pt x="274607" y="-1414"/>
                  <a:pt x="388188" y="24"/>
                </a:cubicBezTo>
                <a:cubicBezTo>
                  <a:pt x="501769" y="1462"/>
                  <a:pt x="591627" y="65441"/>
                  <a:pt x="681486" y="12942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4" name="Freeform 12"/>
          <p:cNvSpPr/>
          <p:nvPr/>
        </p:nvSpPr>
        <p:spPr>
          <a:xfrm>
            <a:off x="2881223" y="1311215"/>
            <a:ext cx="1500996" cy="51759"/>
          </a:xfrm>
          <a:custGeom>
            <a:avLst/>
            <a:gdLst>
              <a:gd name="connsiteX0" fmla="*/ 0 w 1500996"/>
              <a:gd name="connsiteY0" fmla="*/ 51759 h 51759"/>
              <a:gd name="connsiteX1" fmla="*/ 750498 w 1500996"/>
              <a:gd name="connsiteY1" fmla="*/ 0 h 51759"/>
              <a:gd name="connsiteX2" fmla="*/ 1500996 w 1500996"/>
              <a:gd name="connsiteY2" fmla="*/ 51759 h 5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0996" h="51759">
                <a:moveTo>
                  <a:pt x="0" y="51759"/>
                </a:moveTo>
                <a:cubicBezTo>
                  <a:pt x="250166" y="25879"/>
                  <a:pt x="500332" y="0"/>
                  <a:pt x="750498" y="0"/>
                </a:cubicBezTo>
                <a:cubicBezTo>
                  <a:pt x="1000664" y="0"/>
                  <a:pt x="1250830" y="25879"/>
                  <a:pt x="1500996" y="5175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5" name="Freeform 13"/>
          <p:cNvSpPr/>
          <p:nvPr/>
        </p:nvSpPr>
        <p:spPr>
          <a:xfrm>
            <a:off x="2130725" y="1095539"/>
            <a:ext cx="1553858" cy="198423"/>
          </a:xfrm>
          <a:custGeom>
            <a:avLst/>
            <a:gdLst>
              <a:gd name="connsiteX0" fmla="*/ 0 w 1553858"/>
              <a:gd name="connsiteY0" fmla="*/ 189797 h 198423"/>
              <a:gd name="connsiteX1" fmla="*/ 1302588 w 1553858"/>
              <a:gd name="connsiteY1" fmla="*/ 16 h 198423"/>
              <a:gd name="connsiteX2" fmla="*/ 1552754 w 1553858"/>
              <a:gd name="connsiteY2" fmla="*/ 198423 h 1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3858" h="198423">
                <a:moveTo>
                  <a:pt x="0" y="189797"/>
                </a:moveTo>
                <a:cubicBezTo>
                  <a:pt x="521898" y="94187"/>
                  <a:pt x="1043796" y="-1422"/>
                  <a:pt x="1302588" y="16"/>
                </a:cubicBezTo>
                <a:cubicBezTo>
                  <a:pt x="1561380" y="1454"/>
                  <a:pt x="1557067" y="99938"/>
                  <a:pt x="1552754" y="19842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6" name="Freeform 14"/>
          <p:cNvSpPr/>
          <p:nvPr/>
        </p:nvSpPr>
        <p:spPr>
          <a:xfrm>
            <a:off x="2937294" y="2819400"/>
            <a:ext cx="2168105" cy="76200"/>
          </a:xfrm>
          <a:custGeom>
            <a:avLst/>
            <a:gdLst>
              <a:gd name="connsiteX0" fmla="*/ 0 w 1500996"/>
              <a:gd name="connsiteY0" fmla="*/ 51759 h 51759"/>
              <a:gd name="connsiteX1" fmla="*/ 750498 w 1500996"/>
              <a:gd name="connsiteY1" fmla="*/ 0 h 51759"/>
              <a:gd name="connsiteX2" fmla="*/ 1500996 w 1500996"/>
              <a:gd name="connsiteY2" fmla="*/ 51759 h 5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0996" h="51759">
                <a:moveTo>
                  <a:pt x="0" y="51759"/>
                </a:moveTo>
                <a:cubicBezTo>
                  <a:pt x="250166" y="25879"/>
                  <a:pt x="500332" y="0"/>
                  <a:pt x="750498" y="0"/>
                </a:cubicBezTo>
                <a:cubicBezTo>
                  <a:pt x="1000664" y="0"/>
                  <a:pt x="1250830" y="25879"/>
                  <a:pt x="1500996" y="5175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7" name="Freeform 15"/>
          <p:cNvSpPr/>
          <p:nvPr/>
        </p:nvSpPr>
        <p:spPr>
          <a:xfrm>
            <a:off x="5970917" y="2819400"/>
            <a:ext cx="1500996" cy="51759"/>
          </a:xfrm>
          <a:custGeom>
            <a:avLst/>
            <a:gdLst>
              <a:gd name="connsiteX0" fmla="*/ 0 w 1500996"/>
              <a:gd name="connsiteY0" fmla="*/ 51759 h 51759"/>
              <a:gd name="connsiteX1" fmla="*/ 750498 w 1500996"/>
              <a:gd name="connsiteY1" fmla="*/ 0 h 51759"/>
              <a:gd name="connsiteX2" fmla="*/ 1500996 w 1500996"/>
              <a:gd name="connsiteY2" fmla="*/ 51759 h 5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0996" h="51759">
                <a:moveTo>
                  <a:pt x="0" y="51759"/>
                </a:moveTo>
                <a:cubicBezTo>
                  <a:pt x="250166" y="25879"/>
                  <a:pt x="500332" y="0"/>
                  <a:pt x="750498" y="0"/>
                </a:cubicBezTo>
                <a:cubicBezTo>
                  <a:pt x="1000664" y="0"/>
                  <a:pt x="1250830" y="25879"/>
                  <a:pt x="1500996" y="5175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8" name="Freeform 16"/>
          <p:cNvSpPr/>
          <p:nvPr/>
        </p:nvSpPr>
        <p:spPr>
          <a:xfrm>
            <a:off x="2155167" y="2644834"/>
            <a:ext cx="1942754" cy="269548"/>
          </a:xfrm>
          <a:custGeom>
            <a:avLst/>
            <a:gdLst>
              <a:gd name="connsiteX0" fmla="*/ 0 w 1942754"/>
              <a:gd name="connsiteY0" fmla="*/ 269548 h 269548"/>
              <a:gd name="connsiteX1" fmla="*/ 1630392 w 1942754"/>
              <a:gd name="connsiteY1" fmla="*/ 2129 h 269548"/>
              <a:gd name="connsiteX2" fmla="*/ 1940943 w 1942754"/>
              <a:gd name="connsiteY2" fmla="*/ 166031 h 26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2754" h="269548">
                <a:moveTo>
                  <a:pt x="0" y="269548"/>
                </a:moveTo>
                <a:cubicBezTo>
                  <a:pt x="653451" y="144465"/>
                  <a:pt x="1306902" y="19382"/>
                  <a:pt x="1630392" y="2129"/>
                </a:cubicBezTo>
                <a:cubicBezTo>
                  <a:pt x="1953883" y="-15124"/>
                  <a:pt x="1947413" y="75453"/>
                  <a:pt x="1940943" y="166031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9" name="Freeform 18"/>
          <p:cNvSpPr/>
          <p:nvPr/>
        </p:nvSpPr>
        <p:spPr>
          <a:xfrm>
            <a:off x="2173857" y="2409909"/>
            <a:ext cx="4658264" cy="454061"/>
          </a:xfrm>
          <a:custGeom>
            <a:avLst/>
            <a:gdLst>
              <a:gd name="connsiteX0" fmla="*/ 0 w 4658264"/>
              <a:gd name="connsiteY0" fmla="*/ 454061 h 454061"/>
              <a:gd name="connsiteX1" fmla="*/ 2294626 w 4658264"/>
              <a:gd name="connsiteY1" fmla="*/ 31366 h 454061"/>
              <a:gd name="connsiteX2" fmla="*/ 4123426 w 4658264"/>
              <a:gd name="connsiteY2" fmla="*/ 74499 h 454061"/>
              <a:gd name="connsiteX3" fmla="*/ 4658264 w 4658264"/>
              <a:gd name="connsiteY3" fmla="*/ 419555 h 45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8264" h="454061">
                <a:moveTo>
                  <a:pt x="0" y="454061"/>
                </a:moveTo>
                <a:cubicBezTo>
                  <a:pt x="803694" y="274343"/>
                  <a:pt x="1607388" y="94626"/>
                  <a:pt x="2294626" y="31366"/>
                </a:cubicBezTo>
                <a:cubicBezTo>
                  <a:pt x="2981864" y="-31894"/>
                  <a:pt x="3729486" y="9801"/>
                  <a:pt x="4123426" y="74499"/>
                </a:cubicBezTo>
                <a:cubicBezTo>
                  <a:pt x="4517366" y="139197"/>
                  <a:pt x="4587815" y="279376"/>
                  <a:pt x="4658264" y="419555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0" name="Freeform 19"/>
          <p:cNvSpPr/>
          <p:nvPr/>
        </p:nvSpPr>
        <p:spPr>
          <a:xfrm>
            <a:off x="2130725" y="3423212"/>
            <a:ext cx="1553858" cy="198423"/>
          </a:xfrm>
          <a:custGeom>
            <a:avLst/>
            <a:gdLst>
              <a:gd name="connsiteX0" fmla="*/ 0 w 1553858"/>
              <a:gd name="connsiteY0" fmla="*/ 189797 h 198423"/>
              <a:gd name="connsiteX1" fmla="*/ 1302588 w 1553858"/>
              <a:gd name="connsiteY1" fmla="*/ 16 h 198423"/>
              <a:gd name="connsiteX2" fmla="*/ 1552754 w 1553858"/>
              <a:gd name="connsiteY2" fmla="*/ 198423 h 1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3858" h="198423">
                <a:moveTo>
                  <a:pt x="0" y="189797"/>
                </a:moveTo>
                <a:cubicBezTo>
                  <a:pt x="521898" y="94187"/>
                  <a:pt x="1043796" y="-1422"/>
                  <a:pt x="1302588" y="16"/>
                </a:cubicBezTo>
                <a:cubicBezTo>
                  <a:pt x="1561380" y="1454"/>
                  <a:pt x="1557067" y="99938"/>
                  <a:pt x="1552754" y="19842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1" name="Freeform 20"/>
          <p:cNvSpPr/>
          <p:nvPr/>
        </p:nvSpPr>
        <p:spPr>
          <a:xfrm>
            <a:off x="2199737" y="3473624"/>
            <a:ext cx="681486" cy="129420"/>
          </a:xfrm>
          <a:custGeom>
            <a:avLst/>
            <a:gdLst>
              <a:gd name="connsiteX0" fmla="*/ 0 w 681486"/>
              <a:gd name="connsiteY0" fmla="*/ 120794 h 129420"/>
              <a:gd name="connsiteX1" fmla="*/ 388188 w 681486"/>
              <a:gd name="connsiteY1" fmla="*/ 24 h 129420"/>
              <a:gd name="connsiteX2" fmla="*/ 681486 w 681486"/>
              <a:gd name="connsiteY2" fmla="*/ 129420 h 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1486" h="129420">
                <a:moveTo>
                  <a:pt x="0" y="120794"/>
                </a:moveTo>
                <a:cubicBezTo>
                  <a:pt x="137303" y="59690"/>
                  <a:pt x="274607" y="-1414"/>
                  <a:pt x="388188" y="24"/>
                </a:cubicBezTo>
                <a:cubicBezTo>
                  <a:pt x="501769" y="1462"/>
                  <a:pt x="591627" y="65441"/>
                  <a:pt x="681486" y="12942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2" name="Freeform 21"/>
          <p:cNvSpPr/>
          <p:nvPr/>
        </p:nvSpPr>
        <p:spPr>
          <a:xfrm>
            <a:off x="2165230" y="4088921"/>
            <a:ext cx="2286000" cy="103517"/>
          </a:xfrm>
          <a:custGeom>
            <a:avLst/>
            <a:gdLst>
              <a:gd name="connsiteX0" fmla="*/ 0 w 2286000"/>
              <a:gd name="connsiteY0" fmla="*/ 0 h 103517"/>
              <a:gd name="connsiteX1" fmla="*/ 1647645 w 2286000"/>
              <a:gd name="connsiteY1" fmla="*/ 103517 h 103517"/>
              <a:gd name="connsiteX2" fmla="*/ 2286000 w 2286000"/>
              <a:gd name="connsiteY2" fmla="*/ 0 h 10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103517">
                <a:moveTo>
                  <a:pt x="0" y="0"/>
                </a:moveTo>
                <a:cubicBezTo>
                  <a:pt x="633322" y="51758"/>
                  <a:pt x="1266645" y="103517"/>
                  <a:pt x="1647645" y="103517"/>
                </a:cubicBezTo>
                <a:cubicBezTo>
                  <a:pt x="2028645" y="103517"/>
                  <a:pt x="2157322" y="51758"/>
                  <a:pt x="228600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3" name="Freeform 22"/>
          <p:cNvSpPr/>
          <p:nvPr/>
        </p:nvSpPr>
        <p:spPr>
          <a:xfrm>
            <a:off x="2122098" y="4106174"/>
            <a:ext cx="3096883" cy="155295"/>
          </a:xfrm>
          <a:custGeom>
            <a:avLst/>
            <a:gdLst>
              <a:gd name="connsiteX0" fmla="*/ 0 w 3096883"/>
              <a:gd name="connsiteY0" fmla="*/ 8626 h 155295"/>
              <a:gd name="connsiteX1" fmla="*/ 2475781 w 3096883"/>
              <a:gd name="connsiteY1" fmla="*/ 155275 h 155295"/>
              <a:gd name="connsiteX2" fmla="*/ 3096883 w 3096883"/>
              <a:gd name="connsiteY2" fmla="*/ 0 h 15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6883" h="155295">
                <a:moveTo>
                  <a:pt x="0" y="8626"/>
                </a:moveTo>
                <a:cubicBezTo>
                  <a:pt x="979817" y="82669"/>
                  <a:pt x="1959634" y="156713"/>
                  <a:pt x="2475781" y="155275"/>
                </a:cubicBezTo>
                <a:cubicBezTo>
                  <a:pt x="2991928" y="153837"/>
                  <a:pt x="3044405" y="76918"/>
                  <a:pt x="3096883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4" name="Freeform 23"/>
          <p:cNvSpPr/>
          <p:nvPr/>
        </p:nvSpPr>
        <p:spPr>
          <a:xfrm>
            <a:off x="2182483" y="4848045"/>
            <a:ext cx="776377" cy="86425"/>
          </a:xfrm>
          <a:custGeom>
            <a:avLst/>
            <a:gdLst>
              <a:gd name="connsiteX0" fmla="*/ 0 w 776377"/>
              <a:gd name="connsiteY0" fmla="*/ 0 h 86425"/>
              <a:gd name="connsiteX1" fmla="*/ 577970 w 776377"/>
              <a:gd name="connsiteY1" fmla="*/ 86264 h 86425"/>
              <a:gd name="connsiteX2" fmla="*/ 776377 w 776377"/>
              <a:gd name="connsiteY2" fmla="*/ 17253 h 8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6377" h="86425">
                <a:moveTo>
                  <a:pt x="0" y="0"/>
                </a:moveTo>
                <a:cubicBezTo>
                  <a:pt x="224287" y="41694"/>
                  <a:pt x="448574" y="83389"/>
                  <a:pt x="577970" y="86264"/>
                </a:cubicBezTo>
                <a:cubicBezTo>
                  <a:pt x="707366" y="89139"/>
                  <a:pt x="741871" y="53196"/>
                  <a:pt x="776377" y="1725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5" name="Freeform 24"/>
          <p:cNvSpPr/>
          <p:nvPr/>
        </p:nvSpPr>
        <p:spPr>
          <a:xfrm>
            <a:off x="2173857" y="4856672"/>
            <a:ext cx="1561381" cy="189849"/>
          </a:xfrm>
          <a:custGeom>
            <a:avLst/>
            <a:gdLst>
              <a:gd name="connsiteX0" fmla="*/ 0 w 1561381"/>
              <a:gd name="connsiteY0" fmla="*/ 17253 h 189849"/>
              <a:gd name="connsiteX1" fmla="*/ 862641 w 1561381"/>
              <a:gd name="connsiteY1" fmla="*/ 189781 h 189849"/>
              <a:gd name="connsiteX2" fmla="*/ 1561381 w 1561381"/>
              <a:gd name="connsiteY2" fmla="*/ 0 h 18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1381" h="189849">
                <a:moveTo>
                  <a:pt x="0" y="17253"/>
                </a:moveTo>
                <a:cubicBezTo>
                  <a:pt x="301205" y="104954"/>
                  <a:pt x="602411" y="192656"/>
                  <a:pt x="862641" y="189781"/>
                </a:cubicBezTo>
                <a:cubicBezTo>
                  <a:pt x="1122871" y="186906"/>
                  <a:pt x="1342126" y="93453"/>
                  <a:pt x="1561381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6" name="Freeform 25"/>
          <p:cNvSpPr/>
          <p:nvPr/>
        </p:nvSpPr>
        <p:spPr>
          <a:xfrm>
            <a:off x="2208363" y="5596120"/>
            <a:ext cx="776377" cy="86425"/>
          </a:xfrm>
          <a:custGeom>
            <a:avLst/>
            <a:gdLst>
              <a:gd name="connsiteX0" fmla="*/ 0 w 776377"/>
              <a:gd name="connsiteY0" fmla="*/ 0 h 86425"/>
              <a:gd name="connsiteX1" fmla="*/ 577970 w 776377"/>
              <a:gd name="connsiteY1" fmla="*/ 86264 h 86425"/>
              <a:gd name="connsiteX2" fmla="*/ 776377 w 776377"/>
              <a:gd name="connsiteY2" fmla="*/ 17253 h 8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6377" h="86425">
                <a:moveTo>
                  <a:pt x="0" y="0"/>
                </a:moveTo>
                <a:cubicBezTo>
                  <a:pt x="224287" y="41694"/>
                  <a:pt x="448574" y="83389"/>
                  <a:pt x="577970" y="86264"/>
                </a:cubicBezTo>
                <a:cubicBezTo>
                  <a:pt x="707366" y="89139"/>
                  <a:pt x="741871" y="53196"/>
                  <a:pt x="776377" y="1725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7" name="Freeform 26"/>
          <p:cNvSpPr/>
          <p:nvPr/>
        </p:nvSpPr>
        <p:spPr>
          <a:xfrm>
            <a:off x="2199737" y="5604747"/>
            <a:ext cx="1561381" cy="189849"/>
          </a:xfrm>
          <a:custGeom>
            <a:avLst/>
            <a:gdLst>
              <a:gd name="connsiteX0" fmla="*/ 0 w 1561381"/>
              <a:gd name="connsiteY0" fmla="*/ 17253 h 189849"/>
              <a:gd name="connsiteX1" fmla="*/ 862641 w 1561381"/>
              <a:gd name="connsiteY1" fmla="*/ 189781 h 189849"/>
              <a:gd name="connsiteX2" fmla="*/ 1561381 w 1561381"/>
              <a:gd name="connsiteY2" fmla="*/ 0 h 18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1381" h="189849">
                <a:moveTo>
                  <a:pt x="0" y="17253"/>
                </a:moveTo>
                <a:cubicBezTo>
                  <a:pt x="301205" y="104954"/>
                  <a:pt x="602411" y="192656"/>
                  <a:pt x="862641" y="189781"/>
                </a:cubicBezTo>
                <a:cubicBezTo>
                  <a:pt x="1122871" y="186906"/>
                  <a:pt x="1342126" y="93453"/>
                  <a:pt x="1561381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72" name="Picture 2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4128" y="1364412"/>
            <a:ext cx="759027" cy="4240335"/>
          </a:xfrm>
          <a:prstGeom prst="rect"/>
        </p:spPr>
      </p:pic>
      <p:sp>
        <p:nvSpPr>
          <p:cNvPr id="1048648" name="TextBox 2"/>
          <p:cNvSpPr txBox="1"/>
          <p:nvPr/>
        </p:nvSpPr>
        <p:spPr>
          <a:xfrm>
            <a:off x="5909813" y="3677679"/>
            <a:ext cx="3124200" cy="11582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In this example, we are assuming we would ignore the transitive dependency due to address</a:t>
            </a:r>
          </a:p>
        </p:txBody>
      </p:sp>
      <p:pic>
        <p:nvPicPr>
          <p:cNvPr id="209717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258576" y="5149454"/>
            <a:ext cx="960406" cy="476646"/>
          </a:xfrm>
          <a:prstGeom prst="rect"/>
        </p:spPr>
      </p:pic>
      <p:sp>
        <p:nvSpPr>
          <p:cNvPr id="1048649" name="Freeform 27"/>
          <p:cNvSpPr/>
          <p:nvPr/>
        </p:nvSpPr>
        <p:spPr>
          <a:xfrm>
            <a:off x="2208363" y="5634726"/>
            <a:ext cx="2593673" cy="189849"/>
          </a:xfrm>
          <a:custGeom>
            <a:avLst/>
            <a:gdLst>
              <a:gd name="connsiteX0" fmla="*/ 0 w 1561381"/>
              <a:gd name="connsiteY0" fmla="*/ 17253 h 189849"/>
              <a:gd name="connsiteX1" fmla="*/ 862641 w 1561381"/>
              <a:gd name="connsiteY1" fmla="*/ 189781 h 189849"/>
              <a:gd name="connsiteX2" fmla="*/ 1561381 w 1561381"/>
              <a:gd name="connsiteY2" fmla="*/ 0 h 18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1381" h="189849">
                <a:moveTo>
                  <a:pt x="0" y="17253"/>
                </a:moveTo>
                <a:cubicBezTo>
                  <a:pt x="301205" y="104954"/>
                  <a:pt x="602411" y="192656"/>
                  <a:pt x="862641" y="189781"/>
                </a:cubicBezTo>
                <a:cubicBezTo>
                  <a:pt x="1122871" y="186906"/>
                  <a:pt x="1342126" y="93453"/>
                  <a:pt x="1561381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3750"/>
          </a:bodyPr>
          <a:p>
            <a:r>
              <a:rPr dirty="0" lang="en-US"/>
              <a:t>Create Information Preserving Logical Model</a:t>
            </a:r>
          </a:p>
        </p:txBody>
      </p:sp>
      <p:pic>
        <p:nvPicPr>
          <p:cNvPr id="2097174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2000" y="1147026"/>
            <a:ext cx="7051012" cy="4616130"/>
          </a:xfrm>
          <a:prstGeom prst="rect"/>
        </p:spPr>
      </p:pic>
      <p:pic>
        <p:nvPicPr>
          <p:cNvPr id="209717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105656" y="4974336"/>
            <a:ext cx="914400" cy="690113"/>
          </a:xfrm>
          <a:prstGeom prst="rect"/>
        </p:spPr>
      </p:pic>
      <p:pic>
        <p:nvPicPr>
          <p:cNvPr id="2097176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361688" y="5193792"/>
            <a:ext cx="237744" cy="97475"/>
          </a:xfrm>
          <a:prstGeom prst="rect"/>
        </p:spPr>
      </p:pic>
      <p:pic>
        <p:nvPicPr>
          <p:cNvPr id="2097177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200673" y="5193792"/>
            <a:ext cx="164652" cy="103282"/>
          </a:xfrm>
          <a:prstGeom prst="rect"/>
        </p:spPr>
      </p:pic>
      <p:pic>
        <p:nvPicPr>
          <p:cNvPr id="2097178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268214" y="5547565"/>
            <a:ext cx="542925" cy="145663"/>
          </a:xfrm>
          <a:prstGeom prst="rect"/>
        </p:spPr>
      </p:pic>
      <p:pic>
        <p:nvPicPr>
          <p:cNvPr id="2097179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261527" y="4908052"/>
            <a:ext cx="609809" cy="157591"/>
          </a:xfrm>
          <a:prstGeom prst="rect"/>
        </p:spPr>
      </p:pic>
      <p:pic>
        <p:nvPicPr>
          <p:cNvPr id="2097180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495800" y="4930713"/>
            <a:ext cx="178287" cy="118858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Remember This?</a:t>
            </a:r>
          </a:p>
        </p:txBody>
      </p:sp>
      <p:pic>
        <p:nvPicPr>
          <p:cNvPr id="2097181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66800" y="1371600"/>
            <a:ext cx="6753076" cy="3492500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Model Validation</a:t>
            </a:r>
          </a:p>
        </p:txBody>
      </p:sp>
      <p:graphicFrame>
        <p:nvGraphicFramePr>
          <p:cNvPr id="4194304" name="Table 3"/>
          <p:cNvGraphicFramePr>
            <a:graphicFrameLocks noGrp="1"/>
          </p:cNvGraphicFramePr>
          <p:nvPr/>
        </p:nvGraphicFramePr>
        <p:xfrm>
          <a:off x="381000" y="1397924"/>
          <a:ext cx="1219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Tax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15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1793471" y="1393508"/>
          <a:ext cx="2516187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87387"/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Fee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Fiat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Century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Mexico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30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653" name="Rectangle 19"/>
          <p:cNvSpPr/>
          <p:nvPr/>
        </p:nvSpPr>
        <p:spPr>
          <a:xfrm>
            <a:off x="4876800" y="12744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4" name="Rectangle 20"/>
          <p:cNvSpPr/>
          <p:nvPr/>
        </p:nvSpPr>
        <p:spPr>
          <a:xfrm>
            <a:off x="5791200" y="12744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5" name="Rectangle 21"/>
          <p:cNvSpPr/>
          <p:nvPr/>
        </p:nvSpPr>
        <p:spPr>
          <a:xfrm>
            <a:off x="48768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6" name="Rectangle 22"/>
          <p:cNvSpPr/>
          <p:nvPr/>
        </p:nvSpPr>
        <p:spPr>
          <a:xfrm>
            <a:off x="57912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7" name="Rectangle 23"/>
          <p:cNvSpPr/>
          <p:nvPr/>
        </p:nvSpPr>
        <p:spPr>
          <a:xfrm>
            <a:off x="67056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8" name="Rectangle 24"/>
          <p:cNvSpPr/>
          <p:nvPr/>
        </p:nvSpPr>
        <p:spPr>
          <a:xfrm>
            <a:off x="76200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9" name="TextBox 25"/>
          <p:cNvSpPr txBox="1"/>
          <p:nvPr/>
        </p:nvSpPr>
        <p:spPr>
          <a:xfrm>
            <a:off x="4876799" y="1346213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660" name="TextBox 26"/>
          <p:cNvSpPr txBox="1"/>
          <p:nvPr/>
        </p:nvSpPr>
        <p:spPr>
          <a:xfrm>
            <a:off x="5791200" y="134621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</a:t>
            </a:r>
          </a:p>
        </p:txBody>
      </p:sp>
      <p:sp>
        <p:nvSpPr>
          <p:cNvPr id="1048661" name="TextBox 27"/>
          <p:cNvSpPr txBox="1"/>
          <p:nvPr/>
        </p:nvSpPr>
        <p:spPr>
          <a:xfrm>
            <a:off x="4876800" y="2279126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</p:txBody>
      </p:sp>
      <p:sp>
        <p:nvSpPr>
          <p:cNvPr id="1048662" name="TextBox 28"/>
          <p:cNvSpPr txBox="1"/>
          <p:nvPr/>
        </p:nvSpPr>
        <p:spPr>
          <a:xfrm>
            <a:off x="5791200" y="2274780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663" name="TextBox 29"/>
          <p:cNvSpPr txBox="1"/>
          <p:nvPr/>
        </p:nvSpPr>
        <p:spPr>
          <a:xfrm>
            <a:off x="6705600" y="2282882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664" name="TextBox 30"/>
          <p:cNvSpPr txBox="1"/>
          <p:nvPr/>
        </p:nvSpPr>
        <p:spPr>
          <a:xfrm>
            <a:off x="7620000" y="2282882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</a:t>
            </a:r>
          </a:p>
        </p:txBody>
      </p:sp>
      <p:sp>
        <p:nvSpPr>
          <p:cNvPr id="1048665" name="Rectangle 31"/>
          <p:cNvSpPr/>
          <p:nvPr/>
        </p:nvSpPr>
        <p:spPr>
          <a:xfrm>
            <a:off x="1099496" y="489955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6" name="Rectangle 32"/>
          <p:cNvSpPr/>
          <p:nvPr/>
        </p:nvSpPr>
        <p:spPr>
          <a:xfrm>
            <a:off x="2013896" y="489955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7" name="Rectangle 33"/>
          <p:cNvSpPr/>
          <p:nvPr/>
        </p:nvSpPr>
        <p:spPr>
          <a:xfrm>
            <a:off x="4191000" y="485050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8" name="Rectangle 34"/>
          <p:cNvSpPr/>
          <p:nvPr/>
        </p:nvSpPr>
        <p:spPr>
          <a:xfrm>
            <a:off x="5105400" y="485050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9" name="Rectangle 35"/>
          <p:cNvSpPr/>
          <p:nvPr/>
        </p:nvSpPr>
        <p:spPr>
          <a:xfrm>
            <a:off x="6019800" y="485050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0" name="Rectangle 36"/>
          <p:cNvSpPr/>
          <p:nvPr/>
        </p:nvSpPr>
        <p:spPr>
          <a:xfrm>
            <a:off x="6934200" y="485050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1" name="TextBox 37"/>
          <p:cNvSpPr txBox="1"/>
          <p:nvPr/>
        </p:nvSpPr>
        <p:spPr>
          <a:xfrm>
            <a:off x="1099495" y="4971293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672" name="TextBox 38"/>
          <p:cNvSpPr txBox="1"/>
          <p:nvPr/>
        </p:nvSpPr>
        <p:spPr>
          <a:xfrm>
            <a:off x="2013896" y="497129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</a:t>
            </a:r>
          </a:p>
        </p:txBody>
      </p:sp>
      <p:sp>
        <p:nvSpPr>
          <p:cNvPr id="1048673" name="TextBox 39"/>
          <p:cNvSpPr txBox="1"/>
          <p:nvPr/>
        </p:nvSpPr>
        <p:spPr>
          <a:xfrm>
            <a:off x="4191000" y="4917898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Model</a:t>
            </a:r>
          </a:p>
        </p:txBody>
      </p:sp>
      <p:sp>
        <p:nvSpPr>
          <p:cNvPr id="1048674" name="TextBox 40"/>
          <p:cNvSpPr txBox="1"/>
          <p:nvPr/>
        </p:nvSpPr>
        <p:spPr>
          <a:xfrm>
            <a:off x="5105400" y="4913552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Cylinders</a:t>
            </a:r>
          </a:p>
        </p:txBody>
      </p:sp>
      <p:sp>
        <p:nvSpPr>
          <p:cNvPr id="1048675" name="TextBox 41"/>
          <p:cNvSpPr txBox="1"/>
          <p:nvPr/>
        </p:nvSpPr>
        <p:spPr>
          <a:xfrm>
            <a:off x="6019800" y="4921654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Origin</a:t>
            </a:r>
          </a:p>
        </p:txBody>
      </p:sp>
      <p:sp>
        <p:nvSpPr>
          <p:cNvPr id="1048676" name="TextBox 42"/>
          <p:cNvSpPr txBox="1"/>
          <p:nvPr/>
        </p:nvSpPr>
        <p:spPr>
          <a:xfrm>
            <a:off x="6934200" y="4921654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</a:t>
            </a:r>
          </a:p>
        </p:txBody>
      </p:sp>
      <p:sp>
        <p:nvSpPr>
          <p:cNvPr id="1048677" name="Freeform 43"/>
          <p:cNvSpPr/>
          <p:nvPr/>
        </p:nvSpPr>
        <p:spPr>
          <a:xfrm>
            <a:off x="5305245" y="1673525"/>
            <a:ext cx="1863306" cy="534837"/>
          </a:xfrm>
          <a:custGeom>
            <a:avLst/>
            <a:gdLst>
              <a:gd name="connsiteX0" fmla="*/ 1863306 w 1863306"/>
              <a:gd name="connsiteY0" fmla="*/ 534837 h 534837"/>
              <a:gd name="connsiteX1" fmla="*/ 750498 w 1863306"/>
              <a:gd name="connsiteY1" fmla="*/ 258792 h 534837"/>
              <a:gd name="connsiteX2" fmla="*/ 0 w 1863306"/>
              <a:gd name="connsiteY2" fmla="*/ 0 h 53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3306" h="534837">
                <a:moveTo>
                  <a:pt x="1863306" y="534837"/>
                </a:moveTo>
                <a:cubicBezTo>
                  <a:pt x="1462177" y="441384"/>
                  <a:pt x="1061049" y="347931"/>
                  <a:pt x="750498" y="258792"/>
                </a:cubicBezTo>
                <a:cubicBezTo>
                  <a:pt x="439947" y="169653"/>
                  <a:pt x="219973" y="84826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8" name="Freeform 44"/>
          <p:cNvSpPr/>
          <p:nvPr/>
        </p:nvSpPr>
        <p:spPr>
          <a:xfrm>
            <a:off x="1632896" y="4676800"/>
            <a:ext cx="877019" cy="167292"/>
          </a:xfrm>
          <a:custGeom>
            <a:avLst/>
            <a:gdLst>
              <a:gd name="connsiteX0" fmla="*/ 0 w 940279"/>
              <a:gd name="connsiteY0" fmla="*/ 232913 h 232913"/>
              <a:gd name="connsiteX1" fmla="*/ 422694 w 940279"/>
              <a:gd name="connsiteY1" fmla="*/ 0 h 232913"/>
              <a:gd name="connsiteX2" fmla="*/ 940279 w 940279"/>
              <a:gd name="connsiteY2" fmla="*/ 232913 h 232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0279" h="232913">
                <a:moveTo>
                  <a:pt x="0" y="232913"/>
                </a:moveTo>
                <a:cubicBezTo>
                  <a:pt x="132990" y="116456"/>
                  <a:pt x="265981" y="0"/>
                  <a:pt x="422694" y="0"/>
                </a:cubicBezTo>
                <a:cubicBezTo>
                  <a:pt x="579407" y="0"/>
                  <a:pt x="759843" y="116456"/>
                  <a:pt x="940279" y="23291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9" name="Freeform 46"/>
          <p:cNvSpPr/>
          <p:nvPr/>
        </p:nvSpPr>
        <p:spPr>
          <a:xfrm>
            <a:off x="5500255" y="4608600"/>
            <a:ext cx="1820487" cy="216186"/>
          </a:xfrm>
          <a:custGeom>
            <a:avLst/>
            <a:gdLst>
              <a:gd name="connsiteX0" fmla="*/ 0 w 1820487"/>
              <a:gd name="connsiteY0" fmla="*/ 216186 h 216186"/>
              <a:gd name="connsiteX1" fmla="*/ 897774 w 1820487"/>
              <a:gd name="connsiteY1" fmla="*/ 55 h 216186"/>
              <a:gd name="connsiteX2" fmla="*/ 1820487 w 1820487"/>
              <a:gd name="connsiteY2" fmla="*/ 199561 h 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487" h="216186">
                <a:moveTo>
                  <a:pt x="0" y="216186"/>
                </a:moveTo>
                <a:cubicBezTo>
                  <a:pt x="297180" y="109506"/>
                  <a:pt x="594360" y="2826"/>
                  <a:pt x="897774" y="55"/>
                </a:cubicBezTo>
                <a:cubicBezTo>
                  <a:pt x="1201188" y="-2716"/>
                  <a:pt x="1510837" y="98422"/>
                  <a:pt x="1820487" y="199561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0" name="Freeform 47"/>
          <p:cNvSpPr/>
          <p:nvPr/>
        </p:nvSpPr>
        <p:spPr>
          <a:xfrm>
            <a:off x="5558444" y="5265361"/>
            <a:ext cx="1870363" cy="266007"/>
          </a:xfrm>
          <a:custGeom>
            <a:avLst/>
            <a:gdLst>
              <a:gd name="connsiteX0" fmla="*/ 1870363 w 1870363"/>
              <a:gd name="connsiteY0" fmla="*/ 0 h 266007"/>
              <a:gd name="connsiteX1" fmla="*/ 872836 w 1870363"/>
              <a:gd name="connsiteY1" fmla="*/ 266007 h 266007"/>
              <a:gd name="connsiteX2" fmla="*/ 0 w 1870363"/>
              <a:gd name="connsiteY2" fmla="*/ 0 h 2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0363" h="266007">
                <a:moveTo>
                  <a:pt x="1870363" y="0"/>
                </a:moveTo>
                <a:cubicBezTo>
                  <a:pt x="1527463" y="133003"/>
                  <a:pt x="1184563" y="266007"/>
                  <a:pt x="872836" y="266007"/>
                </a:cubicBezTo>
                <a:cubicBezTo>
                  <a:pt x="561109" y="266007"/>
                  <a:pt x="280554" y="133003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1" name="TextBox 48"/>
          <p:cNvSpPr txBox="1"/>
          <p:nvPr/>
        </p:nvSpPr>
        <p:spPr>
          <a:xfrm>
            <a:off x="5487119" y="847196"/>
            <a:ext cx="23622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Directed Arc Model</a:t>
            </a:r>
          </a:p>
        </p:txBody>
      </p:sp>
      <p:sp>
        <p:nvSpPr>
          <p:cNvPr id="1048682" name="TextBox 49"/>
          <p:cNvSpPr txBox="1"/>
          <p:nvPr/>
        </p:nvSpPr>
        <p:spPr>
          <a:xfrm>
            <a:off x="2838797" y="4303794"/>
            <a:ext cx="2719647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Dependency Diagram</a:t>
            </a:r>
          </a:p>
        </p:txBody>
      </p:sp>
      <p:sp>
        <p:nvSpPr>
          <p:cNvPr id="1048683" name="Oval 50"/>
          <p:cNvSpPr/>
          <p:nvPr/>
        </p:nvSpPr>
        <p:spPr>
          <a:xfrm>
            <a:off x="5131279" y="4876780"/>
            <a:ext cx="2514600" cy="866115"/>
          </a:xfrm>
          <a:prstGeom prst="ellipse"/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4" name="TextBox 51"/>
          <p:cNvSpPr txBox="1"/>
          <p:nvPr/>
        </p:nvSpPr>
        <p:spPr>
          <a:xfrm>
            <a:off x="5305245" y="4167532"/>
            <a:ext cx="3407434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solidFill>
                  <a:srgbClr val="FF0000"/>
                </a:solidFill>
              </a:rPr>
              <a:t>Some undesirable FD’s exist</a:t>
            </a:r>
          </a:p>
        </p:txBody>
      </p:sp>
      <p:sp>
        <p:nvSpPr>
          <p:cNvPr id="1048685" name="TextBox 52"/>
          <p:cNvSpPr txBox="1"/>
          <p:nvPr/>
        </p:nvSpPr>
        <p:spPr>
          <a:xfrm>
            <a:off x="240066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686" name="TextBox 53"/>
          <p:cNvSpPr txBox="1"/>
          <p:nvPr/>
        </p:nvSpPr>
        <p:spPr>
          <a:xfrm>
            <a:off x="421177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pic>
        <p:nvPicPr>
          <p:cNvPr id="2097182" name="Picture 5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104707" y="3126431"/>
            <a:ext cx="3009900" cy="601980"/>
          </a:xfrm>
          <a:prstGeom prst="rect"/>
        </p:spPr>
      </p:pic>
      <p:sp>
        <p:nvSpPr>
          <p:cNvPr id="1048687" name="TextBox 55"/>
          <p:cNvSpPr txBox="1"/>
          <p:nvPr/>
        </p:nvSpPr>
        <p:spPr>
          <a:xfrm>
            <a:off x="3208380" y="4898162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688" name="TextBox 56"/>
          <p:cNvSpPr txBox="1"/>
          <p:nvPr/>
        </p:nvSpPr>
        <p:spPr>
          <a:xfrm>
            <a:off x="98532" y="4919636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Functional Dependencies</a:t>
            </a:r>
          </a:p>
        </p:txBody>
      </p:sp>
      <p:graphicFrame>
        <p:nvGraphicFramePr>
          <p:cNvPr id="4194306" name="Table 3"/>
          <p:cNvGraphicFramePr>
            <a:graphicFrameLocks noGrp="1"/>
          </p:cNvGraphicFramePr>
          <p:nvPr/>
        </p:nvGraphicFramePr>
        <p:xfrm>
          <a:off x="304800" y="1445029"/>
          <a:ext cx="1219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Tax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15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07" name="Table 4"/>
          <p:cNvGraphicFramePr>
            <a:graphicFrameLocks noGrp="1"/>
          </p:cNvGraphicFramePr>
          <p:nvPr/>
        </p:nvGraphicFramePr>
        <p:xfrm>
          <a:off x="1752600" y="1447800"/>
          <a:ext cx="1981200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/>
                <a:gridCol w="660400"/>
                <a:gridCol w="660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Camry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Fiat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Accord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Civic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08" name="Table 5"/>
          <p:cNvGraphicFramePr>
            <a:graphicFrameLocks noGrp="1"/>
          </p:cNvGraphicFramePr>
          <p:nvPr/>
        </p:nvGraphicFramePr>
        <p:xfrm>
          <a:off x="304800" y="3188732"/>
          <a:ext cx="1219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533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Fee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690" name="TextBox 6"/>
          <p:cNvSpPr txBox="1"/>
          <p:nvPr/>
        </p:nvSpPr>
        <p:spPr>
          <a:xfrm>
            <a:off x="240066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691" name="TextBox 7"/>
          <p:cNvSpPr txBox="1"/>
          <p:nvPr/>
        </p:nvSpPr>
        <p:spPr>
          <a:xfrm>
            <a:off x="38100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sp>
        <p:nvSpPr>
          <p:cNvPr id="1048692" name="TextBox 8"/>
          <p:cNvSpPr txBox="1"/>
          <p:nvPr/>
        </p:nvSpPr>
        <p:spPr>
          <a:xfrm>
            <a:off x="304800" y="28956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sp>
        <p:nvSpPr>
          <p:cNvPr id="1048693" name="Rectangle 9"/>
          <p:cNvSpPr/>
          <p:nvPr/>
        </p:nvSpPr>
        <p:spPr>
          <a:xfrm>
            <a:off x="4876800" y="12744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4" name="Rectangle 10"/>
          <p:cNvSpPr/>
          <p:nvPr/>
        </p:nvSpPr>
        <p:spPr>
          <a:xfrm>
            <a:off x="5791200" y="12744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5" name="Rectangle 11"/>
          <p:cNvSpPr/>
          <p:nvPr/>
        </p:nvSpPr>
        <p:spPr>
          <a:xfrm>
            <a:off x="48768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6" name="Rectangle 12"/>
          <p:cNvSpPr/>
          <p:nvPr/>
        </p:nvSpPr>
        <p:spPr>
          <a:xfrm>
            <a:off x="57912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7" name="Rectangle 13"/>
          <p:cNvSpPr/>
          <p:nvPr/>
        </p:nvSpPr>
        <p:spPr>
          <a:xfrm>
            <a:off x="67056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8" name="Rectangle 14"/>
          <p:cNvSpPr/>
          <p:nvPr/>
        </p:nvSpPr>
        <p:spPr>
          <a:xfrm>
            <a:off x="7620000" y="22117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9" name="TextBox 15"/>
          <p:cNvSpPr txBox="1"/>
          <p:nvPr/>
        </p:nvSpPr>
        <p:spPr>
          <a:xfrm>
            <a:off x="4876799" y="1346213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700" name="TextBox 16"/>
          <p:cNvSpPr txBox="1"/>
          <p:nvPr/>
        </p:nvSpPr>
        <p:spPr>
          <a:xfrm>
            <a:off x="5791200" y="134621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</a:t>
            </a:r>
          </a:p>
        </p:txBody>
      </p:sp>
      <p:sp>
        <p:nvSpPr>
          <p:cNvPr id="1048701" name="TextBox 17"/>
          <p:cNvSpPr txBox="1"/>
          <p:nvPr/>
        </p:nvSpPr>
        <p:spPr>
          <a:xfrm>
            <a:off x="4876800" y="2279126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</p:txBody>
      </p:sp>
      <p:sp>
        <p:nvSpPr>
          <p:cNvPr id="1048702" name="TextBox 18"/>
          <p:cNvSpPr txBox="1"/>
          <p:nvPr/>
        </p:nvSpPr>
        <p:spPr>
          <a:xfrm>
            <a:off x="5791200" y="2274780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703" name="TextBox 19"/>
          <p:cNvSpPr txBox="1"/>
          <p:nvPr/>
        </p:nvSpPr>
        <p:spPr>
          <a:xfrm>
            <a:off x="6705600" y="2282882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704" name="TextBox 20"/>
          <p:cNvSpPr txBox="1"/>
          <p:nvPr/>
        </p:nvSpPr>
        <p:spPr>
          <a:xfrm>
            <a:off x="7620000" y="2282882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</a:t>
            </a:r>
          </a:p>
        </p:txBody>
      </p:sp>
      <p:sp>
        <p:nvSpPr>
          <p:cNvPr id="1048705" name="Rectangle 21"/>
          <p:cNvSpPr/>
          <p:nvPr/>
        </p:nvSpPr>
        <p:spPr>
          <a:xfrm>
            <a:off x="1238596" y="433400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06" name="Rectangle 22"/>
          <p:cNvSpPr/>
          <p:nvPr/>
        </p:nvSpPr>
        <p:spPr>
          <a:xfrm>
            <a:off x="2152996" y="433400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07" name="Rectangle 23"/>
          <p:cNvSpPr/>
          <p:nvPr/>
        </p:nvSpPr>
        <p:spPr>
          <a:xfrm>
            <a:off x="1203959" y="5105400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08" name="Rectangle 24"/>
          <p:cNvSpPr/>
          <p:nvPr/>
        </p:nvSpPr>
        <p:spPr>
          <a:xfrm>
            <a:off x="2118359" y="5105400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09" name="Rectangle 25"/>
          <p:cNvSpPr/>
          <p:nvPr/>
        </p:nvSpPr>
        <p:spPr>
          <a:xfrm>
            <a:off x="3032759" y="5105400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10" name="TextBox 27"/>
          <p:cNvSpPr txBox="1"/>
          <p:nvPr/>
        </p:nvSpPr>
        <p:spPr>
          <a:xfrm>
            <a:off x="1238595" y="4405743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711" name="TextBox 28"/>
          <p:cNvSpPr txBox="1"/>
          <p:nvPr/>
        </p:nvSpPr>
        <p:spPr>
          <a:xfrm>
            <a:off x="2152996" y="440574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</a:t>
            </a:r>
          </a:p>
        </p:txBody>
      </p:sp>
      <p:sp>
        <p:nvSpPr>
          <p:cNvPr id="1048712" name="TextBox 29"/>
          <p:cNvSpPr txBox="1"/>
          <p:nvPr/>
        </p:nvSpPr>
        <p:spPr>
          <a:xfrm>
            <a:off x="1203959" y="5172789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</p:txBody>
      </p:sp>
      <p:sp>
        <p:nvSpPr>
          <p:cNvPr id="1048713" name="TextBox 30"/>
          <p:cNvSpPr txBox="1"/>
          <p:nvPr/>
        </p:nvSpPr>
        <p:spPr>
          <a:xfrm>
            <a:off x="2118359" y="516844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714" name="TextBox 31"/>
          <p:cNvSpPr txBox="1"/>
          <p:nvPr/>
        </p:nvSpPr>
        <p:spPr>
          <a:xfrm>
            <a:off x="3032759" y="5176545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715" name="Freeform 33"/>
          <p:cNvSpPr/>
          <p:nvPr/>
        </p:nvSpPr>
        <p:spPr>
          <a:xfrm>
            <a:off x="5305245" y="1673525"/>
            <a:ext cx="1863306" cy="534837"/>
          </a:xfrm>
          <a:custGeom>
            <a:avLst/>
            <a:gdLst>
              <a:gd name="connsiteX0" fmla="*/ 1863306 w 1863306"/>
              <a:gd name="connsiteY0" fmla="*/ 534837 h 534837"/>
              <a:gd name="connsiteX1" fmla="*/ 750498 w 1863306"/>
              <a:gd name="connsiteY1" fmla="*/ 258792 h 534837"/>
              <a:gd name="connsiteX2" fmla="*/ 0 w 1863306"/>
              <a:gd name="connsiteY2" fmla="*/ 0 h 53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3306" h="534837">
                <a:moveTo>
                  <a:pt x="1863306" y="534837"/>
                </a:moveTo>
                <a:cubicBezTo>
                  <a:pt x="1462177" y="441384"/>
                  <a:pt x="1061049" y="347931"/>
                  <a:pt x="750498" y="258792"/>
                </a:cubicBezTo>
                <a:cubicBezTo>
                  <a:pt x="439947" y="169653"/>
                  <a:pt x="219973" y="84826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16" name="Freeform 34"/>
          <p:cNvSpPr/>
          <p:nvPr/>
        </p:nvSpPr>
        <p:spPr>
          <a:xfrm>
            <a:off x="1771996" y="4111250"/>
            <a:ext cx="877019" cy="167292"/>
          </a:xfrm>
          <a:custGeom>
            <a:avLst/>
            <a:gdLst>
              <a:gd name="connsiteX0" fmla="*/ 0 w 940279"/>
              <a:gd name="connsiteY0" fmla="*/ 232913 h 232913"/>
              <a:gd name="connsiteX1" fmla="*/ 422694 w 940279"/>
              <a:gd name="connsiteY1" fmla="*/ 0 h 232913"/>
              <a:gd name="connsiteX2" fmla="*/ 940279 w 940279"/>
              <a:gd name="connsiteY2" fmla="*/ 232913 h 232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0279" h="232913">
                <a:moveTo>
                  <a:pt x="0" y="232913"/>
                </a:moveTo>
                <a:cubicBezTo>
                  <a:pt x="132990" y="116456"/>
                  <a:pt x="265981" y="0"/>
                  <a:pt x="422694" y="0"/>
                </a:cubicBezTo>
                <a:cubicBezTo>
                  <a:pt x="579407" y="0"/>
                  <a:pt x="759843" y="116456"/>
                  <a:pt x="940279" y="23291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17" name="TextBox 37"/>
          <p:cNvSpPr txBox="1"/>
          <p:nvPr/>
        </p:nvSpPr>
        <p:spPr>
          <a:xfrm>
            <a:off x="5487119" y="847196"/>
            <a:ext cx="23622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Directed Arc Model</a:t>
            </a:r>
          </a:p>
        </p:txBody>
      </p:sp>
      <p:sp>
        <p:nvSpPr>
          <p:cNvPr id="1048718" name="TextBox 38"/>
          <p:cNvSpPr txBox="1"/>
          <p:nvPr/>
        </p:nvSpPr>
        <p:spPr>
          <a:xfrm>
            <a:off x="4343400" y="3583215"/>
            <a:ext cx="2719647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Dependency Diagram</a:t>
            </a:r>
          </a:p>
        </p:txBody>
      </p:sp>
      <p:sp>
        <p:nvSpPr>
          <p:cNvPr id="1048719" name="TextBox 40"/>
          <p:cNvSpPr txBox="1"/>
          <p:nvPr/>
        </p:nvSpPr>
        <p:spPr>
          <a:xfrm>
            <a:off x="75866" y="4384023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sp>
        <p:nvSpPr>
          <p:cNvPr id="1048720" name="TextBox 41"/>
          <p:cNvSpPr txBox="1"/>
          <p:nvPr/>
        </p:nvSpPr>
        <p:spPr>
          <a:xfrm>
            <a:off x="102521" y="5114458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721" name="Rectangle 42"/>
          <p:cNvSpPr/>
          <p:nvPr/>
        </p:nvSpPr>
        <p:spPr>
          <a:xfrm>
            <a:off x="4572719" y="431228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22" name="Rectangle 43"/>
          <p:cNvSpPr/>
          <p:nvPr/>
        </p:nvSpPr>
        <p:spPr>
          <a:xfrm>
            <a:off x="5487119" y="431228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23" name="TextBox 44"/>
          <p:cNvSpPr txBox="1"/>
          <p:nvPr/>
        </p:nvSpPr>
        <p:spPr>
          <a:xfrm>
            <a:off x="4572718" y="4384023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724" name="TextBox 45"/>
          <p:cNvSpPr txBox="1"/>
          <p:nvPr/>
        </p:nvSpPr>
        <p:spPr>
          <a:xfrm>
            <a:off x="5487119" y="438402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</a:t>
            </a:r>
          </a:p>
        </p:txBody>
      </p:sp>
      <p:sp>
        <p:nvSpPr>
          <p:cNvPr id="1048725" name="Freeform 46"/>
          <p:cNvSpPr/>
          <p:nvPr/>
        </p:nvSpPr>
        <p:spPr>
          <a:xfrm>
            <a:off x="5106119" y="4089530"/>
            <a:ext cx="877019" cy="167292"/>
          </a:xfrm>
          <a:custGeom>
            <a:avLst/>
            <a:gdLst>
              <a:gd name="connsiteX0" fmla="*/ 0 w 940279"/>
              <a:gd name="connsiteY0" fmla="*/ 232913 h 232913"/>
              <a:gd name="connsiteX1" fmla="*/ 422694 w 940279"/>
              <a:gd name="connsiteY1" fmla="*/ 0 h 232913"/>
              <a:gd name="connsiteX2" fmla="*/ 940279 w 940279"/>
              <a:gd name="connsiteY2" fmla="*/ 232913 h 232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0279" h="232913">
                <a:moveTo>
                  <a:pt x="0" y="232913"/>
                </a:moveTo>
                <a:cubicBezTo>
                  <a:pt x="132990" y="116456"/>
                  <a:pt x="265981" y="0"/>
                  <a:pt x="422694" y="0"/>
                </a:cubicBezTo>
                <a:cubicBezTo>
                  <a:pt x="579407" y="0"/>
                  <a:pt x="759843" y="116456"/>
                  <a:pt x="940279" y="232913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26" name="TextBox 47"/>
          <p:cNvSpPr txBox="1"/>
          <p:nvPr/>
        </p:nvSpPr>
        <p:spPr>
          <a:xfrm>
            <a:off x="3432513" y="4364287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sp>
        <p:nvSpPr>
          <p:cNvPr id="1048727" name="TextBox 48"/>
          <p:cNvSpPr txBox="1"/>
          <p:nvPr/>
        </p:nvSpPr>
        <p:spPr>
          <a:xfrm>
            <a:off x="4087483" y="4791292"/>
            <a:ext cx="3407434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solidFill>
                  <a:srgbClr val="FF0000"/>
                </a:solidFill>
              </a:rPr>
              <a:t>Only desirable FD’s exist; </a:t>
            </a:r>
          </a:p>
          <a:p>
            <a:r>
              <a:rPr dirty="0" lang="en-US">
                <a:solidFill>
                  <a:srgbClr val="FF0000"/>
                </a:solidFill>
              </a:rPr>
              <a:t>what normal form is this?</a:t>
            </a:r>
          </a:p>
        </p:txBody>
      </p:sp>
      <p:sp>
        <p:nvSpPr>
          <p:cNvPr id="1048728" name="Rectangle 49"/>
          <p:cNvSpPr/>
          <p:nvPr/>
        </p:nvSpPr>
        <p:spPr>
          <a:xfrm>
            <a:off x="4876800" y="301680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29" name="Rectangle 50"/>
          <p:cNvSpPr/>
          <p:nvPr/>
        </p:nvSpPr>
        <p:spPr>
          <a:xfrm>
            <a:off x="5791200" y="301680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30" name="TextBox 51"/>
          <p:cNvSpPr txBox="1"/>
          <p:nvPr/>
        </p:nvSpPr>
        <p:spPr>
          <a:xfrm>
            <a:off x="4876799" y="3088545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731" name="TextBox 52"/>
          <p:cNvSpPr txBox="1"/>
          <p:nvPr/>
        </p:nvSpPr>
        <p:spPr>
          <a:xfrm>
            <a:off x="5791200" y="3088545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</a:t>
            </a:r>
          </a:p>
        </p:txBody>
      </p:sp>
      <p:sp>
        <p:nvSpPr>
          <p:cNvPr id="1048732" name="Freeform 53"/>
          <p:cNvSpPr/>
          <p:nvPr/>
        </p:nvSpPr>
        <p:spPr>
          <a:xfrm>
            <a:off x="5361709" y="2601884"/>
            <a:ext cx="906087" cy="415636"/>
          </a:xfrm>
          <a:custGeom>
            <a:avLst/>
            <a:gdLst>
              <a:gd name="connsiteX0" fmla="*/ 906087 w 906087"/>
              <a:gd name="connsiteY0" fmla="*/ 0 h 415636"/>
              <a:gd name="connsiteX1" fmla="*/ 282633 w 906087"/>
              <a:gd name="connsiteY1" fmla="*/ 207818 h 415636"/>
              <a:gd name="connsiteX2" fmla="*/ 0 w 906087"/>
              <a:gd name="connsiteY2" fmla="*/ 415636 h 41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6087" h="415636">
                <a:moveTo>
                  <a:pt x="906087" y="0"/>
                </a:moveTo>
                <a:cubicBezTo>
                  <a:pt x="669867" y="69272"/>
                  <a:pt x="433647" y="138545"/>
                  <a:pt x="282633" y="207818"/>
                </a:cubicBezTo>
                <a:cubicBezTo>
                  <a:pt x="131619" y="277091"/>
                  <a:pt x="65809" y="346363"/>
                  <a:pt x="0" y="415636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33" name="TextBox 54"/>
          <p:cNvSpPr txBox="1"/>
          <p:nvPr/>
        </p:nvSpPr>
        <p:spPr>
          <a:xfrm>
            <a:off x="3771900" y="3079498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sp>
        <p:nvSpPr>
          <p:cNvPr id="1048734" name="TextBox 55"/>
          <p:cNvSpPr txBox="1"/>
          <p:nvPr/>
        </p:nvSpPr>
        <p:spPr>
          <a:xfrm>
            <a:off x="3886918" y="2266998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735" name="TextBox 56"/>
          <p:cNvSpPr txBox="1"/>
          <p:nvPr/>
        </p:nvSpPr>
        <p:spPr>
          <a:xfrm>
            <a:off x="3886918" y="1326477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Multi-Valued Dependencies</a:t>
            </a:r>
          </a:p>
        </p:txBody>
      </p:sp>
      <p:graphicFrame>
        <p:nvGraphicFramePr>
          <p:cNvPr id="4194309" name="Table 4"/>
          <p:cNvGraphicFramePr>
            <a:graphicFrameLocks noGrp="1"/>
          </p:cNvGraphicFramePr>
          <p:nvPr/>
        </p:nvGraphicFramePr>
        <p:xfrm>
          <a:off x="304800" y="1445029"/>
          <a:ext cx="1219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Tax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15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10" name="Table 6"/>
          <p:cNvGraphicFramePr>
            <a:graphicFrameLocks noGrp="1"/>
          </p:cNvGraphicFramePr>
          <p:nvPr/>
        </p:nvGraphicFramePr>
        <p:xfrm>
          <a:off x="304800" y="3188732"/>
          <a:ext cx="1219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533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Fee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37" name="TextBox 7"/>
          <p:cNvSpPr txBox="1"/>
          <p:nvPr/>
        </p:nvSpPr>
        <p:spPr>
          <a:xfrm>
            <a:off x="240066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738" name="TextBox 8"/>
          <p:cNvSpPr txBox="1"/>
          <p:nvPr/>
        </p:nvSpPr>
        <p:spPr>
          <a:xfrm>
            <a:off x="38100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sp>
        <p:nvSpPr>
          <p:cNvPr id="1048739" name="TextBox 9"/>
          <p:cNvSpPr txBox="1"/>
          <p:nvPr/>
        </p:nvSpPr>
        <p:spPr>
          <a:xfrm>
            <a:off x="304800" y="28956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graphicFrame>
        <p:nvGraphicFramePr>
          <p:cNvPr id="4194311" name="Table 10"/>
          <p:cNvGraphicFramePr>
            <a:graphicFrameLocks noGrp="1"/>
          </p:cNvGraphicFramePr>
          <p:nvPr/>
        </p:nvGraphicFramePr>
        <p:xfrm>
          <a:off x="1828800" y="1447800"/>
          <a:ext cx="1981200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/>
                <a:gridCol w="660400"/>
                <a:gridCol w="660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Fiat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40" name="Rectangle 11"/>
          <p:cNvSpPr>
            <a:spLocks noChangeAspect="1" noMove="1" noResize="1" noRot="1" noAdjustHandles="1" noEditPoints="1" noChangeArrowheads="1" noChangeShapeType="1" noTextEdit="1"/>
          </p:cNvSpPr>
          <p:nvPr/>
        </p:nvSpPr>
        <p:spPr>
          <a:xfrm>
            <a:off x="4114800" y="1695271"/>
            <a:ext cx="4549579" cy="1477328"/>
          </a:xfrm>
          <a:prstGeom prst="rect"/>
          <a:blipFill rotWithShape="0">
            <a:blip xmlns:r="http://schemas.openxmlformats.org/officeDocument/2006/relationships" r:embed="rId1"/>
            <a:stretch>
              <a:fillRect l="-1072" t="-2066" r="-134"/>
            </a:stretch>
          </a:blipFill>
        </p:spPr>
        <p:txBody>
          <a:bodyPr/>
          <a:p>
            <a:r>
              <a:rPr lang="en-US">
                <a:noFill/>
              </a:rPr>
              <a:t> </a:t>
            </a:r>
          </a:p>
        </p:txBody>
      </p:sp>
      <p:graphicFrame>
        <p:nvGraphicFramePr>
          <p:cNvPr id="4194312" name="Table 12"/>
          <p:cNvGraphicFramePr>
            <a:graphicFrameLocks noGrp="1"/>
          </p:cNvGraphicFramePr>
          <p:nvPr/>
        </p:nvGraphicFramePr>
        <p:xfrm>
          <a:off x="4284501" y="3352800"/>
          <a:ext cx="1219200" cy="2249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sng">
                          <a:effectLst/>
                        </a:rPr>
                        <a:t>Model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sng">
                          <a:effectLst/>
                        </a:rPr>
                        <a:t>Origin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Fiat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Italy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13" name="Table 13"/>
          <p:cNvGraphicFramePr>
            <a:graphicFrameLocks noGrp="1"/>
          </p:cNvGraphicFramePr>
          <p:nvPr/>
        </p:nvGraphicFramePr>
        <p:xfrm>
          <a:off x="5755837" y="3352800"/>
          <a:ext cx="1219200" cy="1868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sng">
                          <a:effectLst/>
                        </a:rPr>
                        <a:t>Model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sng">
                          <a:effectLst/>
                        </a:rPr>
                        <a:t>Cylinders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Fiat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14" name="Table 14"/>
          <p:cNvGraphicFramePr>
            <a:graphicFrameLocks noGrp="1"/>
          </p:cNvGraphicFramePr>
          <p:nvPr/>
        </p:nvGraphicFramePr>
        <p:xfrm>
          <a:off x="7162800" y="3352800"/>
          <a:ext cx="1219200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sng">
                          <a:effectLst/>
                        </a:rPr>
                        <a:t>Origin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sng">
                          <a:effectLst/>
                        </a:rPr>
                        <a:t>Cylinders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41" name="TextBox 15"/>
          <p:cNvSpPr txBox="1"/>
          <p:nvPr/>
        </p:nvSpPr>
        <p:spPr>
          <a:xfrm>
            <a:off x="4648200" y="2923342"/>
            <a:ext cx="5334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R1</a:t>
            </a:r>
          </a:p>
        </p:txBody>
      </p:sp>
      <p:sp>
        <p:nvSpPr>
          <p:cNvPr id="1048742" name="TextBox 16"/>
          <p:cNvSpPr txBox="1"/>
          <p:nvPr/>
        </p:nvSpPr>
        <p:spPr>
          <a:xfrm>
            <a:off x="6071062" y="2923342"/>
            <a:ext cx="5334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R2</a:t>
            </a:r>
          </a:p>
        </p:txBody>
      </p:sp>
      <p:sp>
        <p:nvSpPr>
          <p:cNvPr id="1048743" name="TextBox 17"/>
          <p:cNvSpPr txBox="1"/>
          <p:nvPr/>
        </p:nvSpPr>
        <p:spPr>
          <a:xfrm>
            <a:off x="7514706" y="2923342"/>
            <a:ext cx="5334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Multi-Valued Dependencies</a:t>
            </a:r>
          </a:p>
        </p:txBody>
      </p:sp>
      <p:sp>
        <p:nvSpPr>
          <p:cNvPr id="1048745" name="Rectangle 3"/>
          <p:cNvSpPr>
            <a:spLocks noChangeAspect="1" noMove="1" noResize="1" noRot="1" noAdjustHandles="1" noEditPoints="1" noChangeArrowheads="1" noChangeShapeType="1" noTextEdit="1"/>
          </p:cNvSpPr>
          <p:nvPr/>
        </p:nvSpPr>
        <p:spPr>
          <a:xfrm>
            <a:off x="473825" y="914400"/>
            <a:ext cx="4549579" cy="1477328"/>
          </a:xfrm>
          <a:prstGeom prst="rect"/>
          <a:blipFill rotWithShape="0">
            <a:blip xmlns:r="http://schemas.openxmlformats.org/officeDocument/2006/relationships" r:embed="rId1"/>
            <a:stretch>
              <a:fillRect l="-1206" t="-2066" r="-134"/>
            </a:stretch>
          </a:blipFill>
        </p:spPr>
        <p:txBody>
          <a:bodyPr/>
          <a:p>
            <a:r>
              <a:rPr lang="en-US">
                <a:noFill/>
              </a:rPr>
              <a:t> </a:t>
            </a:r>
          </a:p>
        </p:txBody>
      </p:sp>
      <p:sp>
        <p:nvSpPr>
          <p:cNvPr id="1048746" name="TextBox 4"/>
          <p:cNvSpPr txBox="1"/>
          <p:nvPr/>
        </p:nvSpPr>
        <p:spPr>
          <a:xfrm>
            <a:off x="974101" y="2143830"/>
            <a:ext cx="95571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R1*R2</a:t>
            </a:r>
          </a:p>
        </p:txBody>
      </p:sp>
      <p:sp>
        <p:nvSpPr>
          <p:cNvPr id="1048747" name="TextBox 5"/>
          <p:cNvSpPr txBox="1"/>
          <p:nvPr/>
        </p:nvSpPr>
        <p:spPr>
          <a:xfrm>
            <a:off x="3086665" y="2142471"/>
            <a:ext cx="998913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R1*R3</a:t>
            </a:r>
          </a:p>
        </p:txBody>
      </p:sp>
      <p:sp>
        <p:nvSpPr>
          <p:cNvPr id="1048748" name="TextBox 6"/>
          <p:cNvSpPr txBox="1"/>
          <p:nvPr/>
        </p:nvSpPr>
        <p:spPr>
          <a:xfrm>
            <a:off x="5181600" y="1258163"/>
            <a:ext cx="1003069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R2*R3</a:t>
            </a:r>
          </a:p>
        </p:txBody>
      </p:sp>
      <p:graphicFrame>
        <p:nvGraphicFramePr>
          <p:cNvPr id="4194315" name="Table 7"/>
          <p:cNvGraphicFramePr>
            <a:graphicFrameLocks noGrp="1"/>
          </p:cNvGraphicFramePr>
          <p:nvPr/>
        </p:nvGraphicFramePr>
        <p:xfrm>
          <a:off x="473825" y="2511803"/>
          <a:ext cx="1972887" cy="2821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7629"/>
                <a:gridCol w="657629"/>
                <a:gridCol w="657629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Fiat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16" name="Table 8"/>
          <p:cNvGraphicFramePr>
            <a:graphicFrameLocks noGrp="1"/>
          </p:cNvGraphicFramePr>
          <p:nvPr/>
        </p:nvGraphicFramePr>
        <p:xfrm>
          <a:off x="6477000" y="3200400"/>
          <a:ext cx="1981200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/>
                <a:gridCol w="660400"/>
                <a:gridCol w="660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Camry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Fiat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Accord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Civic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49" name="TextBox 9"/>
          <p:cNvSpPr txBox="1"/>
          <p:nvPr/>
        </p:nvSpPr>
        <p:spPr>
          <a:xfrm>
            <a:off x="7162800" y="2819400"/>
            <a:ext cx="1003069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</a:t>
            </a:r>
          </a:p>
        </p:txBody>
      </p:sp>
      <p:graphicFrame>
        <p:nvGraphicFramePr>
          <p:cNvPr id="4194317" name="Table 10"/>
          <p:cNvGraphicFramePr>
            <a:graphicFrameLocks noGrp="1"/>
          </p:cNvGraphicFramePr>
          <p:nvPr/>
        </p:nvGraphicFramePr>
        <p:xfrm>
          <a:off x="2600099" y="2511803"/>
          <a:ext cx="1972044" cy="3356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7348"/>
                <a:gridCol w="657348"/>
                <a:gridCol w="657348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sz="1100" lang="en-US" strike="noStrike" u="sng">
                          <a:effectLst/>
                        </a:rPr>
                        <a:t>Origin</a:t>
                      </a:r>
                      <a:endParaRPr b="1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Fiat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18" name="Table 11"/>
          <p:cNvGraphicFramePr>
            <a:graphicFrameLocks noGrp="1"/>
          </p:cNvGraphicFramePr>
          <p:nvPr/>
        </p:nvGraphicFramePr>
        <p:xfrm>
          <a:off x="4937870" y="1586087"/>
          <a:ext cx="1267326" cy="4525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8780"/>
                <a:gridCol w="515572"/>
                <a:gridCol w="342974"/>
              </a:tblGrid>
              <a:tr h="127744">
                <a:tc>
                  <a:txBody>
                    <a:bodyPr/>
                    <a:p>
                      <a:pPr algn="ctr" fontAlgn="b"/>
                      <a:r>
                        <a:rPr b="1" dirty="0" sz="700" lang="en-US" strike="noStrike" u="sng">
                          <a:effectLst/>
                        </a:rPr>
                        <a:t>Model</a:t>
                      </a:r>
                      <a:endParaRPr b="1" dirty="0" sz="7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700" lang="en-US" strike="noStrike" u="sng">
                          <a:effectLst/>
                        </a:rPr>
                        <a:t>Cylinders</a:t>
                      </a:r>
                      <a:endParaRPr b="1" dirty="0" sz="7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700" lang="en-US" strike="noStrike" u="sng">
                          <a:effectLst/>
                        </a:rPr>
                        <a:t>Origin</a:t>
                      </a:r>
                      <a:endParaRPr b="1" dirty="0" sz="7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Camry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Japan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Camry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Camry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Mexico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Camry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Korea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Camry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Italy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Civic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Japan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Civic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Civic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Mexico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Civic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Korea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Civic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Italy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Accord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Japan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Accord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Accord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Mexico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Accord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Korea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Accord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Italy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Japan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Mexico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Korea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Italy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Fiat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Japan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Fiat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Fiat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Mexico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Fiat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Korea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Fiat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4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Italy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Century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8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USA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231216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Monte Carlo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6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USA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231216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Monte Carlo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6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231216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Monte Carlo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6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Mexico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6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USA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6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Canada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  <a:tr h="127744">
                <a:tc>
                  <a:txBody>
                    <a:bodyPr/>
                    <a:p>
                      <a:pPr algn="ctr" fontAlgn="b"/>
                      <a:r>
                        <a:rPr sz="700" lang="en-US" strike="noStrike" u="none">
                          <a:effectLst/>
                        </a:rPr>
                        <a:t>Mustang</a:t>
                      </a:r>
                      <a:endParaRPr b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700" lang="en-US" strike="noStrike" u="none">
                          <a:effectLst/>
                        </a:rPr>
                        <a:t>6</a:t>
                      </a:r>
                      <a:endParaRPr b="0" dirty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700" lang="en-US" strike="noStrike" u="none">
                          <a:effectLst/>
                        </a:rPr>
                        <a:t>Mexico</a:t>
                      </a:r>
                      <a:endParaRPr b="0" dirty="0" sz="7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87" marR="6387" marT="6387" marB="0" anchor="b"/>
                </a:tc>
              </a:tr>
            </a:tbl>
          </a:graphicData>
        </a:graphic>
      </p:graphicFrame>
      <p:sp>
        <p:nvSpPr>
          <p:cNvPr id="1048750" name="TextBox 12"/>
          <p:cNvSpPr txBox="1"/>
          <p:nvPr/>
        </p:nvSpPr>
        <p:spPr>
          <a:xfrm>
            <a:off x="6330834" y="1896070"/>
            <a:ext cx="2667000" cy="8915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All MVD’s are trivial and decompositions would contain loss-joins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457200" y="196518"/>
            <a:ext cx="6477000" cy="960120"/>
          </a:xfrm>
        </p:spPr>
        <p:txBody>
          <a:bodyPr/>
          <a:p>
            <a:r>
              <a:rPr dirty="0" lang="en-US"/>
              <a:t>Join Dependencies</a:t>
            </a:r>
          </a:p>
        </p:txBody>
      </p:sp>
      <p:graphicFrame>
        <p:nvGraphicFramePr>
          <p:cNvPr id="4194319" name="Table 4"/>
          <p:cNvGraphicFramePr>
            <a:graphicFrameLocks noGrp="1"/>
          </p:cNvGraphicFramePr>
          <p:nvPr/>
        </p:nvGraphicFramePr>
        <p:xfrm>
          <a:off x="4419600" y="2848803"/>
          <a:ext cx="1981200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/>
                <a:gridCol w="660400"/>
                <a:gridCol w="660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Camry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Fiat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Accord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Civic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52" name="TextBox 5"/>
          <p:cNvSpPr txBox="1"/>
          <p:nvPr/>
        </p:nvSpPr>
        <p:spPr>
          <a:xfrm>
            <a:off x="5181600" y="2423468"/>
            <a:ext cx="1003069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R</a:t>
            </a:r>
          </a:p>
        </p:txBody>
      </p:sp>
      <p:sp>
        <p:nvSpPr>
          <p:cNvPr id="1048753" name="TextBox 6"/>
          <p:cNvSpPr txBox="1">
            <a:spLocks noChangeAspect="1" noMove="1" noResize="1" noRot="1" noAdjustHandles="1" noEditPoints="1" noChangeArrowheads="1" noChangeShapeType="1" noTextEdit="1"/>
          </p:cNvSpPr>
          <p:nvPr/>
        </p:nvSpPr>
        <p:spPr>
          <a:xfrm>
            <a:off x="1600200" y="2399699"/>
            <a:ext cx="1941576" cy="369332"/>
          </a:xfrm>
          <a:prstGeom prst="rect"/>
          <a:blipFill rotWithShape="0">
            <a:blip xmlns:r="http://schemas.openxmlformats.org/officeDocument/2006/relationships" r:embed="rId1"/>
            <a:stretch>
              <a:fillRect l="-2830" t="-10000" b="-26667"/>
            </a:stretch>
          </a:blipFill>
        </p:spPr>
        <p:txBody>
          <a:bodyPr/>
          <a:p>
            <a:r>
              <a:rPr lang="en-US">
                <a:noFill/>
              </a:rPr>
              <a:t> </a:t>
            </a:r>
          </a:p>
        </p:txBody>
      </p:sp>
      <p:graphicFrame>
        <p:nvGraphicFramePr>
          <p:cNvPr id="4194320" name="Table 7"/>
          <p:cNvGraphicFramePr>
            <a:graphicFrameLocks noGrp="1"/>
          </p:cNvGraphicFramePr>
          <p:nvPr/>
        </p:nvGraphicFramePr>
        <p:xfrm>
          <a:off x="1447800" y="2848803"/>
          <a:ext cx="2095500" cy="2794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/>
                <a:gridCol w="698500"/>
                <a:gridCol w="6985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Camry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Accord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solidFill>
                            <a:srgbClr val="FF0000"/>
                          </a:solidFill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Century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Canada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solidFill>
                            <a:srgbClr val="FF0000"/>
                          </a:solidFill>
                          <a:effectLst/>
                        </a:rPr>
                        <a:t>Mustang</a:t>
                      </a:r>
                      <a:endParaRPr b="0" dirty="0" sz="1100" i="0" lang="en-US" strike="noStrike" u="non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solidFill>
                            <a:srgbClr val="FF0000"/>
                          </a:solidFill>
                          <a:effectLst/>
                        </a:rPr>
                        <a:t>Canada</a:t>
                      </a:r>
                      <a:endParaRPr b="0" dirty="0" sz="1100" i="0" lang="en-US" strike="noStrike" u="non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Monte Carlo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Canada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Mexico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Mexico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9525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Fiat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Italy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54" name="TextBox 8"/>
          <p:cNvSpPr txBox="1">
            <a:spLocks noChangeAspect="1" noMove="1" noResize="1" noRot="1" noAdjustHandles="1" noEditPoints="1" noChangeArrowheads="1" noChangeShapeType="1" noTextEdit="1"/>
          </p:cNvSpPr>
          <p:nvPr/>
        </p:nvSpPr>
        <p:spPr>
          <a:xfrm>
            <a:off x="838200" y="1107037"/>
            <a:ext cx="7467600" cy="1477328"/>
          </a:xfrm>
          <a:prstGeom prst="rect"/>
          <a:blipFill rotWithShape="0">
            <a:blip xmlns:r="http://schemas.openxmlformats.org/officeDocument/2006/relationships" r:embed="rId2"/>
            <a:stretch>
              <a:fillRect l="-735" t="-2479" r="-571"/>
            </a:stretch>
          </a:blipFill>
        </p:spPr>
        <p:txBody>
          <a:bodyPr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Solution</a:t>
            </a:r>
          </a:p>
        </p:txBody>
      </p:sp>
      <p:graphicFrame>
        <p:nvGraphicFramePr>
          <p:cNvPr id="4194321" name="Table 3"/>
          <p:cNvGraphicFramePr>
            <a:graphicFrameLocks noGrp="1"/>
          </p:cNvGraphicFramePr>
          <p:nvPr/>
        </p:nvGraphicFramePr>
        <p:xfrm>
          <a:off x="304800" y="1445029"/>
          <a:ext cx="1219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Tax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15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22" name="Table 4"/>
          <p:cNvGraphicFramePr>
            <a:graphicFrameLocks noGrp="1"/>
          </p:cNvGraphicFramePr>
          <p:nvPr/>
        </p:nvGraphicFramePr>
        <p:xfrm>
          <a:off x="1752600" y="1447800"/>
          <a:ext cx="1981200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/>
                <a:gridCol w="660400"/>
                <a:gridCol w="660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Camry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Fiat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Accord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Civic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23" name="Table 5"/>
          <p:cNvGraphicFramePr>
            <a:graphicFrameLocks noGrp="1"/>
          </p:cNvGraphicFramePr>
          <p:nvPr/>
        </p:nvGraphicFramePr>
        <p:xfrm>
          <a:off x="304800" y="3188732"/>
          <a:ext cx="1219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533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Fee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30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56" name="TextBox 6"/>
          <p:cNvSpPr txBox="1"/>
          <p:nvPr/>
        </p:nvSpPr>
        <p:spPr>
          <a:xfrm>
            <a:off x="240066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757" name="TextBox 7"/>
          <p:cNvSpPr txBox="1"/>
          <p:nvPr/>
        </p:nvSpPr>
        <p:spPr>
          <a:xfrm>
            <a:off x="381000" y="10189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sp>
        <p:nvSpPr>
          <p:cNvPr id="1048758" name="TextBox 8"/>
          <p:cNvSpPr txBox="1"/>
          <p:nvPr/>
        </p:nvSpPr>
        <p:spPr>
          <a:xfrm>
            <a:off x="304800" y="2895600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sp>
        <p:nvSpPr>
          <p:cNvPr id="1048759" name="Rectangle 9"/>
          <p:cNvSpPr/>
          <p:nvPr/>
        </p:nvSpPr>
        <p:spPr>
          <a:xfrm>
            <a:off x="4971870" y="14162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60" name="Rectangle 10"/>
          <p:cNvSpPr/>
          <p:nvPr/>
        </p:nvSpPr>
        <p:spPr>
          <a:xfrm>
            <a:off x="5886270" y="141623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61" name="Rectangle 11"/>
          <p:cNvSpPr/>
          <p:nvPr/>
        </p:nvSpPr>
        <p:spPr>
          <a:xfrm>
            <a:off x="4971870" y="235349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62" name="Rectangle 12"/>
          <p:cNvSpPr/>
          <p:nvPr/>
        </p:nvSpPr>
        <p:spPr>
          <a:xfrm>
            <a:off x="5886270" y="235349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63" name="Rectangle 13"/>
          <p:cNvSpPr/>
          <p:nvPr/>
        </p:nvSpPr>
        <p:spPr>
          <a:xfrm>
            <a:off x="6800670" y="235349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64" name="TextBox 15"/>
          <p:cNvSpPr txBox="1"/>
          <p:nvPr/>
        </p:nvSpPr>
        <p:spPr>
          <a:xfrm>
            <a:off x="4971869" y="1487973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765" name="TextBox 16"/>
          <p:cNvSpPr txBox="1"/>
          <p:nvPr/>
        </p:nvSpPr>
        <p:spPr>
          <a:xfrm>
            <a:off x="5886270" y="1487973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</a:t>
            </a:r>
          </a:p>
        </p:txBody>
      </p:sp>
      <p:sp>
        <p:nvSpPr>
          <p:cNvPr id="1048766" name="TextBox 17"/>
          <p:cNvSpPr txBox="1"/>
          <p:nvPr/>
        </p:nvSpPr>
        <p:spPr>
          <a:xfrm>
            <a:off x="4971870" y="2420886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</p:txBody>
      </p:sp>
      <p:sp>
        <p:nvSpPr>
          <p:cNvPr id="1048767" name="TextBox 18"/>
          <p:cNvSpPr txBox="1"/>
          <p:nvPr/>
        </p:nvSpPr>
        <p:spPr>
          <a:xfrm>
            <a:off x="5886270" y="2416540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768" name="TextBox 19"/>
          <p:cNvSpPr txBox="1"/>
          <p:nvPr/>
        </p:nvSpPr>
        <p:spPr>
          <a:xfrm>
            <a:off x="6800670" y="2424642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</p:txBody>
      </p:sp>
      <p:sp>
        <p:nvSpPr>
          <p:cNvPr id="1048769" name="Freeform 21"/>
          <p:cNvSpPr/>
          <p:nvPr/>
        </p:nvSpPr>
        <p:spPr>
          <a:xfrm>
            <a:off x="5400315" y="1815285"/>
            <a:ext cx="1863306" cy="534837"/>
          </a:xfrm>
          <a:custGeom>
            <a:avLst/>
            <a:gdLst>
              <a:gd name="connsiteX0" fmla="*/ 1863306 w 1863306"/>
              <a:gd name="connsiteY0" fmla="*/ 534837 h 534837"/>
              <a:gd name="connsiteX1" fmla="*/ 750498 w 1863306"/>
              <a:gd name="connsiteY1" fmla="*/ 258792 h 534837"/>
              <a:gd name="connsiteX2" fmla="*/ 0 w 1863306"/>
              <a:gd name="connsiteY2" fmla="*/ 0 h 53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3306" h="534837">
                <a:moveTo>
                  <a:pt x="1863306" y="534837"/>
                </a:moveTo>
                <a:cubicBezTo>
                  <a:pt x="1462177" y="441384"/>
                  <a:pt x="1061049" y="347931"/>
                  <a:pt x="750498" y="258792"/>
                </a:cubicBezTo>
                <a:cubicBezTo>
                  <a:pt x="439947" y="169653"/>
                  <a:pt x="219973" y="84826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70" name="TextBox 22"/>
          <p:cNvSpPr txBox="1"/>
          <p:nvPr/>
        </p:nvSpPr>
        <p:spPr>
          <a:xfrm>
            <a:off x="5582189" y="988956"/>
            <a:ext cx="23622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Directed Arc Model</a:t>
            </a:r>
          </a:p>
        </p:txBody>
      </p:sp>
      <p:sp>
        <p:nvSpPr>
          <p:cNvPr id="1048771" name="Rectangle 24"/>
          <p:cNvSpPr/>
          <p:nvPr/>
        </p:nvSpPr>
        <p:spPr>
          <a:xfrm>
            <a:off x="4971870" y="315856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72" name="Rectangle 25"/>
          <p:cNvSpPr/>
          <p:nvPr/>
        </p:nvSpPr>
        <p:spPr>
          <a:xfrm>
            <a:off x="5886270" y="3158569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73" name="TextBox 26"/>
          <p:cNvSpPr txBox="1"/>
          <p:nvPr/>
        </p:nvSpPr>
        <p:spPr>
          <a:xfrm>
            <a:off x="4971869" y="3230305"/>
            <a:ext cx="914401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</p:txBody>
      </p:sp>
      <p:sp>
        <p:nvSpPr>
          <p:cNvPr id="1048774" name="TextBox 27"/>
          <p:cNvSpPr txBox="1"/>
          <p:nvPr/>
        </p:nvSpPr>
        <p:spPr>
          <a:xfrm>
            <a:off x="5886270" y="3230305"/>
            <a:ext cx="914400" cy="24622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</a:t>
            </a:r>
          </a:p>
        </p:txBody>
      </p:sp>
      <p:sp>
        <p:nvSpPr>
          <p:cNvPr id="1048775" name="Freeform 28"/>
          <p:cNvSpPr/>
          <p:nvPr/>
        </p:nvSpPr>
        <p:spPr>
          <a:xfrm>
            <a:off x="5456779" y="2743644"/>
            <a:ext cx="906087" cy="415636"/>
          </a:xfrm>
          <a:custGeom>
            <a:avLst/>
            <a:gdLst>
              <a:gd name="connsiteX0" fmla="*/ 906087 w 906087"/>
              <a:gd name="connsiteY0" fmla="*/ 0 h 415636"/>
              <a:gd name="connsiteX1" fmla="*/ 282633 w 906087"/>
              <a:gd name="connsiteY1" fmla="*/ 207818 h 415636"/>
              <a:gd name="connsiteX2" fmla="*/ 0 w 906087"/>
              <a:gd name="connsiteY2" fmla="*/ 415636 h 41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6087" h="415636">
                <a:moveTo>
                  <a:pt x="906087" y="0"/>
                </a:moveTo>
                <a:cubicBezTo>
                  <a:pt x="669867" y="69272"/>
                  <a:pt x="433647" y="138545"/>
                  <a:pt x="282633" y="207818"/>
                </a:cubicBezTo>
                <a:cubicBezTo>
                  <a:pt x="131619" y="277091"/>
                  <a:pt x="65809" y="346363"/>
                  <a:pt x="0" y="415636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76" name="TextBox 29"/>
          <p:cNvSpPr txBox="1"/>
          <p:nvPr/>
        </p:nvSpPr>
        <p:spPr>
          <a:xfrm>
            <a:off x="3808755" y="3210216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sp>
        <p:nvSpPr>
          <p:cNvPr id="1048777" name="TextBox 30"/>
          <p:cNvSpPr txBox="1"/>
          <p:nvPr/>
        </p:nvSpPr>
        <p:spPr>
          <a:xfrm>
            <a:off x="3923773" y="2397716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778" name="TextBox 31"/>
          <p:cNvSpPr txBox="1"/>
          <p:nvPr/>
        </p:nvSpPr>
        <p:spPr>
          <a:xfrm>
            <a:off x="3923773" y="1457195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sp>
        <p:nvSpPr>
          <p:cNvPr id="1048779" name="TextBox 32"/>
          <p:cNvSpPr txBox="1"/>
          <p:nvPr/>
        </p:nvSpPr>
        <p:spPr>
          <a:xfrm>
            <a:off x="1295400" y="3983023"/>
            <a:ext cx="6419670" cy="178054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600" lang="en-US"/>
              <a:t>Consequently, the highest level of decomposition we can engage in for this model is 3NF/BCNF. We have validated the design above.</a:t>
            </a:r>
          </a:p>
          <a:p>
            <a:endParaRPr dirty="0" sz="1600" lang="en-US"/>
          </a:p>
          <a:p>
            <a:r>
              <a:rPr dirty="0" sz="1600" lang="en-US"/>
              <a:t>If Canada produced a 6 cylinder Mustang, and USA produced a 4 cylinder Mustang, then we could decompose the EXPORT table into 3 component binary tables.</a:t>
            </a:r>
          </a:p>
          <a:p>
            <a:endParaRPr dirty="0" sz="160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3750"/>
          </a:bodyPr>
          <a:p>
            <a:r>
              <a:rPr dirty="0" lang="en-US"/>
              <a:t>Information Preserving Logical Model</a:t>
            </a:r>
          </a:p>
        </p:txBody>
      </p:sp>
      <p:graphicFrame>
        <p:nvGraphicFramePr>
          <p:cNvPr id="4194324" name="Table 3"/>
          <p:cNvGraphicFramePr>
            <a:graphicFrameLocks noGrp="1"/>
          </p:cNvGraphicFramePr>
          <p:nvPr/>
        </p:nvGraphicFramePr>
        <p:xfrm>
          <a:off x="2819400" y="1446473"/>
          <a:ext cx="1219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Tax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Japan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0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15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15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25" name="Table 4"/>
          <p:cNvGraphicFramePr>
            <a:graphicFrameLocks noGrp="1"/>
          </p:cNvGraphicFramePr>
          <p:nvPr/>
        </p:nvGraphicFramePr>
        <p:xfrm>
          <a:off x="565520" y="1464541"/>
          <a:ext cx="1981200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/>
                <a:gridCol w="660400"/>
                <a:gridCol w="660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Model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Origin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Camry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USA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Fiat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Italy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Accord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Century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USA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Monte Carlo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Canada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Civic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Japan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Mustang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Mexico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Civic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Korea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194326" name="Table 5"/>
          <p:cNvGraphicFramePr>
            <a:graphicFrameLocks noGrp="1"/>
          </p:cNvGraphicFramePr>
          <p:nvPr/>
        </p:nvGraphicFramePr>
        <p:xfrm>
          <a:off x="4227022" y="1403884"/>
          <a:ext cx="1219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533400"/>
              </a:tblGrid>
              <a:tr h="190500"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sng">
                          <a:effectLst/>
                        </a:rPr>
                        <a:t>Cylinders</a:t>
                      </a:r>
                      <a:endParaRPr b="1" dirty="0" sz="1100" i="0" lang="en-US" strike="noStrike" u="sng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b="1" dirty="0" sz="1100" lang="en-US" strike="noStrike" u="none">
                          <a:effectLst/>
                        </a:rPr>
                        <a:t>Fee</a:t>
                      </a:r>
                      <a:endParaRPr b="1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4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30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6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45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lang="en-US" strike="noStrike" u="none">
                          <a:effectLst/>
                        </a:rPr>
                        <a:t>8</a:t>
                      </a:r>
                      <a:endParaRPr b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 fontAlgn="b"/>
                      <a:r>
                        <a:rPr dirty="0" sz="1100" lang="en-US" strike="noStrike" u="none">
                          <a:effectLst/>
                        </a:rPr>
                        <a:t>60</a:t>
                      </a:r>
                      <a:endParaRPr b="0" dirty="0" sz="1100" i="0" lang="en-US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048781" name="TextBox 6"/>
          <p:cNvSpPr txBox="1"/>
          <p:nvPr/>
        </p:nvSpPr>
        <p:spPr>
          <a:xfrm>
            <a:off x="947906" y="1187542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EXPORT</a:t>
            </a:r>
          </a:p>
        </p:txBody>
      </p:sp>
      <p:sp>
        <p:nvSpPr>
          <p:cNvPr id="1048782" name="TextBox 7"/>
          <p:cNvSpPr txBox="1"/>
          <p:nvPr/>
        </p:nvSpPr>
        <p:spPr>
          <a:xfrm>
            <a:off x="2819400" y="1161951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NATION</a:t>
            </a:r>
          </a:p>
        </p:txBody>
      </p:sp>
      <p:sp>
        <p:nvSpPr>
          <p:cNvPr id="1048783" name="TextBox 8"/>
          <p:cNvSpPr txBox="1"/>
          <p:nvPr/>
        </p:nvSpPr>
        <p:spPr>
          <a:xfrm>
            <a:off x="4265122" y="1120944"/>
            <a:ext cx="1143000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MOTOR_FEE</a:t>
            </a:r>
          </a:p>
        </p:txBody>
      </p:sp>
      <p:sp>
        <p:nvSpPr>
          <p:cNvPr id="1048784" name="Rectangle 9"/>
          <p:cNvSpPr/>
          <p:nvPr/>
        </p:nvSpPr>
        <p:spPr>
          <a:xfrm>
            <a:off x="4199313" y="3156551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85" name="Rectangle 10"/>
          <p:cNvSpPr/>
          <p:nvPr/>
        </p:nvSpPr>
        <p:spPr>
          <a:xfrm>
            <a:off x="5113713" y="3156551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86" name="Rectangle 11"/>
          <p:cNvSpPr/>
          <p:nvPr/>
        </p:nvSpPr>
        <p:spPr>
          <a:xfrm>
            <a:off x="4199313" y="4093811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87" name="Rectangle 12"/>
          <p:cNvSpPr/>
          <p:nvPr/>
        </p:nvSpPr>
        <p:spPr>
          <a:xfrm>
            <a:off x="5113713" y="4093811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88" name="Rectangle 13"/>
          <p:cNvSpPr/>
          <p:nvPr/>
        </p:nvSpPr>
        <p:spPr>
          <a:xfrm>
            <a:off x="6028113" y="4093811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89" name="TextBox 15"/>
          <p:cNvSpPr txBox="1"/>
          <p:nvPr/>
        </p:nvSpPr>
        <p:spPr>
          <a:xfrm>
            <a:off x="4212331" y="3146122"/>
            <a:ext cx="914401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</p:txBody>
      </p:sp>
      <p:sp>
        <p:nvSpPr>
          <p:cNvPr id="1048790" name="TextBox 16"/>
          <p:cNvSpPr txBox="1"/>
          <p:nvPr/>
        </p:nvSpPr>
        <p:spPr>
          <a:xfrm>
            <a:off x="5113713" y="3138503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Tax*</a:t>
            </a:r>
          </a:p>
          <a:p>
            <a:pPr algn="ctr"/>
            <a:r>
              <a:rPr dirty="0" sz="1000" lang="en-US"/>
              <a:t>(N,2)</a:t>
            </a:r>
          </a:p>
        </p:txBody>
      </p:sp>
      <p:sp>
        <p:nvSpPr>
          <p:cNvPr id="1048791" name="TextBox 17"/>
          <p:cNvSpPr txBox="1"/>
          <p:nvPr/>
        </p:nvSpPr>
        <p:spPr>
          <a:xfrm>
            <a:off x="4205064" y="4077962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  <a:p>
            <a:pPr algn="ctr"/>
            <a:r>
              <a:rPr dirty="0" sz="1000" lang="en-US"/>
              <a:t>(A, 20)</a:t>
            </a:r>
          </a:p>
        </p:txBody>
      </p:sp>
      <p:sp>
        <p:nvSpPr>
          <p:cNvPr id="1048792" name="TextBox 18"/>
          <p:cNvSpPr txBox="1"/>
          <p:nvPr/>
        </p:nvSpPr>
        <p:spPr>
          <a:xfrm>
            <a:off x="5112994" y="4081237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793" name="TextBox 19"/>
          <p:cNvSpPr txBox="1"/>
          <p:nvPr/>
        </p:nvSpPr>
        <p:spPr>
          <a:xfrm>
            <a:off x="6033864" y="4086888"/>
            <a:ext cx="914400" cy="5105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  <a:p>
            <a:pPr algn="ctr"/>
            <a:endParaRPr dirty="0" sz="1000" lang="en-US" u="sng"/>
          </a:p>
        </p:txBody>
      </p:sp>
      <p:sp>
        <p:nvSpPr>
          <p:cNvPr id="1048794" name="Rectangle 23"/>
          <p:cNvSpPr/>
          <p:nvPr/>
        </p:nvSpPr>
        <p:spPr>
          <a:xfrm>
            <a:off x="4199313" y="48988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95" name="Rectangle 24"/>
          <p:cNvSpPr/>
          <p:nvPr/>
        </p:nvSpPr>
        <p:spPr>
          <a:xfrm>
            <a:off x="5113713" y="48988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96" name="TextBox 26"/>
          <p:cNvSpPr txBox="1"/>
          <p:nvPr/>
        </p:nvSpPr>
        <p:spPr>
          <a:xfrm>
            <a:off x="5105400" y="4876800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Fee*</a:t>
            </a:r>
          </a:p>
          <a:p>
            <a:pPr algn="ctr"/>
            <a:r>
              <a:rPr dirty="0" sz="1000" lang="en-US"/>
              <a:t>(N,2)</a:t>
            </a:r>
          </a:p>
        </p:txBody>
      </p:sp>
      <p:sp>
        <p:nvSpPr>
          <p:cNvPr id="1048797" name="TextBox 28"/>
          <p:cNvSpPr txBox="1"/>
          <p:nvPr/>
        </p:nvSpPr>
        <p:spPr>
          <a:xfrm>
            <a:off x="2751513" y="4950530"/>
            <a:ext cx="1427685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L3: MOTOR_FEE</a:t>
            </a:r>
          </a:p>
        </p:txBody>
      </p:sp>
      <p:sp>
        <p:nvSpPr>
          <p:cNvPr id="1048798" name="TextBox 29"/>
          <p:cNvSpPr txBox="1"/>
          <p:nvPr/>
        </p:nvSpPr>
        <p:spPr>
          <a:xfrm>
            <a:off x="3062783" y="4138030"/>
            <a:ext cx="1231433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L2: EXPORT</a:t>
            </a:r>
          </a:p>
        </p:txBody>
      </p:sp>
      <p:sp>
        <p:nvSpPr>
          <p:cNvPr id="1048799" name="TextBox 30"/>
          <p:cNvSpPr txBox="1"/>
          <p:nvPr/>
        </p:nvSpPr>
        <p:spPr>
          <a:xfrm>
            <a:off x="3062783" y="3197509"/>
            <a:ext cx="1231433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L1: NATION</a:t>
            </a:r>
          </a:p>
        </p:txBody>
      </p:sp>
      <p:sp>
        <p:nvSpPr>
          <p:cNvPr id="1048800" name="TextBox 33"/>
          <p:cNvSpPr txBox="1"/>
          <p:nvPr/>
        </p:nvSpPr>
        <p:spPr>
          <a:xfrm>
            <a:off x="4219428" y="4875235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01" name="TextBox 34"/>
          <p:cNvSpPr txBox="1"/>
          <p:nvPr/>
        </p:nvSpPr>
        <p:spPr>
          <a:xfrm>
            <a:off x="5214387" y="3855380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L3   n</a:t>
            </a:r>
          </a:p>
        </p:txBody>
      </p:sp>
      <p:sp>
        <p:nvSpPr>
          <p:cNvPr id="1048802" name="TextBox 35"/>
          <p:cNvSpPr txBox="1"/>
          <p:nvPr/>
        </p:nvSpPr>
        <p:spPr>
          <a:xfrm>
            <a:off x="6087871" y="3839869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L1   n</a:t>
            </a:r>
          </a:p>
        </p:txBody>
      </p:sp>
      <p:sp>
        <p:nvSpPr>
          <p:cNvPr id="1048803" name="TextBox 36"/>
          <p:cNvSpPr txBox="1"/>
          <p:nvPr/>
        </p:nvSpPr>
        <p:spPr>
          <a:xfrm>
            <a:off x="5262878" y="4474811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04" name="TextBox 37"/>
          <p:cNvSpPr txBox="1"/>
          <p:nvPr/>
        </p:nvSpPr>
        <p:spPr>
          <a:xfrm>
            <a:off x="6123271" y="4472164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05" name="TextBox 38"/>
          <p:cNvSpPr txBox="1"/>
          <p:nvPr/>
        </p:nvSpPr>
        <p:spPr>
          <a:xfrm>
            <a:off x="4427913" y="2274926"/>
            <a:ext cx="342900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Thus, we have validated this logical model.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Title 1"/>
          <p:cNvSpPr>
            <a:spLocks noGrp="1"/>
          </p:cNvSpPr>
          <p:nvPr>
            <p:ph type="title"/>
          </p:nvPr>
        </p:nvSpPr>
        <p:spPr>
          <a:xfrm>
            <a:off x="349449" y="183770"/>
            <a:ext cx="6477000" cy="960120"/>
          </a:xfrm>
        </p:spPr>
        <p:txBody>
          <a:bodyPr/>
          <a:p>
            <a:r>
              <a:rPr dirty="0" lang="en-US"/>
              <a:t>What if…</a:t>
            </a:r>
          </a:p>
        </p:txBody>
      </p:sp>
      <p:sp>
        <p:nvSpPr>
          <p:cNvPr id="1048807" name="Rectangle 3"/>
          <p:cNvSpPr/>
          <p:nvPr/>
        </p:nvSpPr>
        <p:spPr>
          <a:xfrm>
            <a:off x="2673549" y="18421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08" name="Rectangle 4"/>
          <p:cNvSpPr/>
          <p:nvPr/>
        </p:nvSpPr>
        <p:spPr>
          <a:xfrm>
            <a:off x="3587949" y="18421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09" name="Rectangle 5"/>
          <p:cNvSpPr/>
          <p:nvPr/>
        </p:nvSpPr>
        <p:spPr>
          <a:xfrm>
            <a:off x="2671264" y="33461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10" name="Rectangle 6"/>
          <p:cNvSpPr/>
          <p:nvPr/>
        </p:nvSpPr>
        <p:spPr>
          <a:xfrm>
            <a:off x="3585664" y="33461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11" name="TextBox 9"/>
          <p:cNvSpPr txBox="1"/>
          <p:nvPr/>
        </p:nvSpPr>
        <p:spPr>
          <a:xfrm>
            <a:off x="2686567" y="1831748"/>
            <a:ext cx="914401" cy="3708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</p:txBody>
      </p:sp>
      <p:sp>
        <p:nvSpPr>
          <p:cNvPr id="1048812" name="TextBox 10"/>
          <p:cNvSpPr txBox="1"/>
          <p:nvPr/>
        </p:nvSpPr>
        <p:spPr>
          <a:xfrm>
            <a:off x="3587949" y="182412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Tax*</a:t>
            </a:r>
          </a:p>
          <a:p>
            <a:pPr algn="ctr"/>
            <a:r>
              <a:rPr dirty="0" sz="1000" lang="en-US"/>
              <a:t>(N,2)</a:t>
            </a:r>
          </a:p>
        </p:txBody>
      </p:sp>
      <p:sp>
        <p:nvSpPr>
          <p:cNvPr id="1048813" name="TextBox 11"/>
          <p:cNvSpPr txBox="1"/>
          <p:nvPr/>
        </p:nvSpPr>
        <p:spPr>
          <a:xfrm>
            <a:off x="2677015" y="333033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  <a:p>
            <a:pPr algn="ctr"/>
            <a:r>
              <a:rPr dirty="0" sz="1000" lang="en-US"/>
              <a:t>(A, 20)</a:t>
            </a:r>
          </a:p>
        </p:txBody>
      </p:sp>
      <p:sp>
        <p:nvSpPr>
          <p:cNvPr id="1048814" name="TextBox 12"/>
          <p:cNvSpPr txBox="1"/>
          <p:nvPr/>
        </p:nvSpPr>
        <p:spPr>
          <a:xfrm>
            <a:off x="3584945" y="333360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15" name="Rectangle 15"/>
          <p:cNvSpPr/>
          <p:nvPr/>
        </p:nvSpPr>
        <p:spPr>
          <a:xfrm>
            <a:off x="2658324" y="5035542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16" name="Rectangle 16"/>
          <p:cNvSpPr/>
          <p:nvPr/>
        </p:nvSpPr>
        <p:spPr>
          <a:xfrm>
            <a:off x="3572724" y="5035542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17" name="TextBox 17"/>
          <p:cNvSpPr txBox="1"/>
          <p:nvPr/>
        </p:nvSpPr>
        <p:spPr>
          <a:xfrm>
            <a:off x="3564411" y="501345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Fee*</a:t>
            </a:r>
          </a:p>
          <a:p>
            <a:pPr algn="ctr"/>
            <a:r>
              <a:rPr dirty="0" sz="1000" lang="en-US"/>
              <a:t>(N,2)</a:t>
            </a:r>
          </a:p>
        </p:txBody>
      </p:sp>
      <p:sp>
        <p:nvSpPr>
          <p:cNvPr id="1048818" name="TextBox 18"/>
          <p:cNvSpPr txBox="1"/>
          <p:nvPr/>
        </p:nvSpPr>
        <p:spPr>
          <a:xfrm>
            <a:off x="1210524" y="5087189"/>
            <a:ext cx="1427685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L5: MOTOR_FEE</a:t>
            </a:r>
          </a:p>
        </p:txBody>
      </p:sp>
      <p:sp>
        <p:nvSpPr>
          <p:cNvPr id="1048819" name="TextBox 19"/>
          <p:cNvSpPr txBox="1"/>
          <p:nvPr/>
        </p:nvSpPr>
        <p:spPr>
          <a:xfrm>
            <a:off x="1230576" y="3390402"/>
            <a:ext cx="1535592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L3: EXPORT_R2</a:t>
            </a:r>
          </a:p>
        </p:txBody>
      </p:sp>
      <p:sp>
        <p:nvSpPr>
          <p:cNvPr id="1048820" name="TextBox 20"/>
          <p:cNvSpPr txBox="1"/>
          <p:nvPr/>
        </p:nvSpPr>
        <p:spPr>
          <a:xfrm>
            <a:off x="1537019" y="1883135"/>
            <a:ext cx="1231433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L1: NATION</a:t>
            </a:r>
          </a:p>
        </p:txBody>
      </p:sp>
      <p:sp>
        <p:nvSpPr>
          <p:cNvPr id="1048821" name="TextBox 21"/>
          <p:cNvSpPr txBox="1"/>
          <p:nvPr/>
        </p:nvSpPr>
        <p:spPr>
          <a:xfrm>
            <a:off x="2678439" y="501189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22" name="TextBox 22"/>
          <p:cNvSpPr txBox="1"/>
          <p:nvPr/>
        </p:nvSpPr>
        <p:spPr>
          <a:xfrm>
            <a:off x="3686338" y="3107752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L5   n</a:t>
            </a:r>
          </a:p>
        </p:txBody>
      </p:sp>
      <p:sp>
        <p:nvSpPr>
          <p:cNvPr id="1048823" name="TextBox 24"/>
          <p:cNvSpPr txBox="1"/>
          <p:nvPr/>
        </p:nvSpPr>
        <p:spPr>
          <a:xfrm>
            <a:off x="3734829" y="3727183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24" name="TextBox 26"/>
          <p:cNvSpPr txBox="1"/>
          <p:nvPr/>
        </p:nvSpPr>
        <p:spPr>
          <a:xfrm>
            <a:off x="714538" y="1013522"/>
            <a:ext cx="7667462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If Canada did produce 6 cylinder Mustangs, and USA produced 4 cylinder Mustangs, this solution is more efficient but has less constraints. </a:t>
            </a:r>
          </a:p>
        </p:txBody>
      </p:sp>
      <p:sp>
        <p:nvSpPr>
          <p:cNvPr id="1048825" name="Rectangle 28"/>
          <p:cNvSpPr/>
          <p:nvPr/>
        </p:nvSpPr>
        <p:spPr>
          <a:xfrm>
            <a:off x="2659043" y="418263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26" name="Rectangle 29"/>
          <p:cNvSpPr/>
          <p:nvPr/>
        </p:nvSpPr>
        <p:spPr>
          <a:xfrm>
            <a:off x="3573443" y="418263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27" name="TextBox 32"/>
          <p:cNvSpPr txBox="1"/>
          <p:nvPr/>
        </p:nvSpPr>
        <p:spPr>
          <a:xfrm>
            <a:off x="2658324" y="417005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28" name="TextBox 33"/>
          <p:cNvSpPr txBox="1"/>
          <p:nvPr/>
        </p:nvSpPr>
        <p:spPr>
          <a:xfrm>
            <a:off x="3579194" y="4175710"/>
            <a:ext cx="914400" cy="5105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  <a:p>
            <a:pPr algn="ctr"/>
            <a:endParaRPr dirty="0" sz="1000" lang="en-US" u="sng"/>
          </a:p>
        </p:txBody>
      </p:sp>
      <p:sp>
        <p:nvSpPr>
          <p:cNvPr id="1048829" name="Rectangle 40"/>
          <p:cNvSpPr/>
          <p:nvPr/>
        </p:nvSpPr>
        <p:spPr>
          <a:xfrm>
            <a:off x="2667798" y="25034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30" name="Rectangle 42"/>
          <p:cNvSpPr/>
          <p:nvPr/>
        </p:nvSpPr>
        <p:spPr>
          <a:xfrm>
            <a:off x="3572724" y="2495676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31" name="TextBox 44"/>
          <p:cNvSpPr txBox="1"/>
          <p:nvPr/>
        </p:nvSpPr>
        <p:spPr>
          <a:xfrm>
            <a:off x="2673549" y="248763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  <a:p>
            <a:pPr algn="ctr"/>
            <a:r>
              <a:rPr dirty="0" sz="1000" lang="en-US"/>
              <a:t>(A, 20)</a:t>
            </a:r>
          </a:p>
        </p:txBody>
      </p:sp>
      <p:sp>
        <p:nvSpPr>
          <p:cNvPr id="1048832" name="TextBox 46"/>
          <p:cNvSpPr txBox="1"/>
          <p:nvPr/>
        </p:nvSpPr>
        <p:spPr>
          <a:xfrm>
            <a:off x="3578475" y="2488753"/>
            <a:ext cx="914400" cy="5105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  <a:p>
            <a:pPr algn="ctr"/>
            <a:endParaRPr dirty="0" sz="1000" lang="en-US" u="sng"/>
          </a:p>
        </p:txBody>
      </p:sp>
      <p:sp>
        <p:nvSpPr>
          <p:cNvPr id="1048833" name="TextBox 50"/>
          <p:cNvSpPr txBox="1"/>
          <p:nvPr/>
        </p:nvSpPr>
        <p:spPr>
          <a:xfrm>
            <a:off x="3638721" y="2257601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L1   n</a:t>
            </a:r>
          </a:p>
        </p:txBody>
      </p:sp>
      <p:sp>
        <p:nvSpPr>
          <p:cNvPr id="1048834" name="TextBox 52"/>
          <p:cNvSpPr txBox="1"/>
          <p:nvPr/>
        </p:nvSpPr>
        <p:spPr>
          <a:xfrm>
            <a:off x="3667882" y="2874029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35" name="TextBox 39"/>
          <p:cNvSpPr txBox="1"/>
          <p:nvPr/>
        </p:nvSpPr>
        <p:spPr>
          <a:xfrm>
            <a:off x="1224125" y="4259310"/>
            <a:ext cx="1535592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L4: EXPORT_R3</a:t>
            </a:r>
          </a:p>
        </p:txBody>
      </p:sp>
      <p:sp>
        <p:nvSpPr>
          <p:cNvPr id="1048836" name="TextBox 41"/>
          <p:cNvSpPr txBox="1"/>
          <p:nvPr/>
        </p:nvSpPr>
        <p:spPr>
          <a:xfrm>
            <a:off x="1226390" y="2552837"/>
            <a:ext cx="1535592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L2: EXPORT_R1</a:t>
            </a:r>
          </a:p>
        </p:txBody>
      </p:sp>
      <p:sp>
        <p:nvSpPr>
          <p:cNvPr id="1048837" name="TextBox 43"/>
          <p:cNvSpPr txBox="1"/>
          <p:nvPr/>
        </p:nvSpPr>
        <p:spPr>
          <a:xfrm>
            <a:off x="2742252" y="3932950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L5   n</a:t>
            </a:r>
          </a:p>
        </p:txBody>
      </p:sp>
      <p:sp>
        <p:nvSpPr>
          <p:cNvPr id="1048838" name="TextBox 45"/>
          <p:cNvSpPr txBox="1"/>
          <p:nvPr/>
        </p:nvSpPr>
        <p:spPr>
          <a:xfrm>
            <a:off x="2781125" y="4561057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39" name="TextBox 47"/>
          <p:cNvSpPr txBox="1"/>
          <p:nvPr/>
        </p:nvSpPr>
        <p:spPr>
          <a:xfrm>
            <a:off x="3620148" y="3947078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L1   n</a:t>
            </a:r>
          </a:p>
        </p:txBody>
      </p:sp>
      <p:sp>
        <p:nvSpPr>
          <p:cNvPr id="1048840" name="TextBox 49"/>
          <p:cNvSpPr txBox="1"/>
          <p:nvPr/>
        </p:nvSpPr>
        <p:spPr>
          <a:xfrm>
            <a:off x="3666528" y="4561056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41" name="TextBox 51"/>
          <p:cNvSpPr txBox="1"/>
          <p:nvPr/>
        </p:nvSpPr>
        <p:spPr>
          <a:xfrm>
            <a:off x="5257800" y="2021634"/>
            <a:ext cx="3124200" cy="24917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Notice the relationships now fit a cascading 1:m pattern which reduces anomalies.</a:t>
            </a:r>
          </a:p>
          <a:p>
            <a:endParaRPr dirty="0" lang="en-US"/>
          </a:p>
          <a:p>
            <a:r>
              <a:rPr dirty="0" lang="en-US"/>
              <a:t>But how do the tables join this way?</a:t>
            </a:r>
          </a:p>
          <a:p>
            <a:endParaRPr dirty="0" lang="en-US"/>
          </a:p>
          <a:p>
            <a:r>
              <a:rPr dirty="0" lang="en-US"/>
              <a:t>What is the cost of modeling this way?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Title 1"/>
          <p:cNvSpPr>
            <a:spLocks noGrp="1"/>
          </p:cNvSpPr>
          <p:nvPr>
            <p:ph type="title"/>
          </p:nvPr>
        </p:nvSpPr>
        <p:spPr>
          <a:xfrm>
            <a:off x="349449" y="183770"/>
            <a:ext cx="6477000" cy="960120"/>
          </a:xfrm>
        </p:spPr>
        <p:txBody>
          <a:bodyPr/>
          <a:p>
            <a:r>
              <a:rPr dirty="0" lang="en-US"/>
              <a:t>What if…</a:t>
            </a:r>
          </a:p>
        </p:txBody>
      </p:sp>
      <p:sp>
        <p:nvSpPr>
          <p:cNvPr id="1048843" name="Rectangle 3"/>
          <p:cNvSpPr/>
          <p:nvPr/>
        </p:nvSpPr>
        <p:spPr>
          <a:xfrm>
            <a:off x="2673549" y="18421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44" name="Rectangle 4"/>
          <p:cNvSpPr/>
          <p:nvPr/>
        </p:nvSpPr>
        <p:spPr>
          <a:xfrm>
            <a:off x="3587949" y="1842177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45" name="Rectangle 5"/>
          <p:cNvSpPr/>
          <p:nvPr/>
        </p:nvSpPr>
        <p:spPr>
          <a:xfrm>
            <a:off x="2671264" y="33461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46" name="Rectangle 6"/>
          <p:cNvSpPr/>
          <p:nvPr/>
        </p:nvSpPr>
        <p:spPr>
          <a:xfrm>
            <a:off x="3585664" y="33461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47" name="TextBox 9"/>
          <p:cNvSpPr txBox="1"/>
          <p:nvPr/>
        </p:nvSpPr>
        <p:spPr>
          <a:xfrm>
            <a:off x="2686567" y="1831748"/>
            <a:ext cx="914401" cy="3708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</p:txBody>
      </p:sp>
      <p:sp>
        <p:nvSpPr>
          <p:cNvPr id="1048848" name="TextBox 10"/>
          <p:cNvSpPr txBox="1"/>
          <p:nvPr/>
        </p:nvSpPr>
        <p:spPr>
          <a:xfrm>
            <a:off x="3587949" y="182412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Tax*</a:t>
            </a:r>
          </a:p>
          <a:p>
            <a:pPr algn="ctr"/>
            <a:r>
              <a:rPr dirty="0" sz="1000" lang="en-US"/>
              <a:t>(N,2)</a:t>
            </a:r>
          </a:p>
        </p:txBody>
      </p:sp>
      <p:sp>
        <p:nvSpPr>
          <p:cNvPr id="1048849" name="TextBox 11"/>
          <p:cNvSpPr txBox="1"/>
          <p:nvPr/>
        </p:nvSpPr>
        <p:spPr>
          <a:xfrm>
            <a:off x="2677015" y="333033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  <a:p>
            <a:pPr algn="ctr"/>
            <a:r>
              <a:rPr dirty="0" sz="1000" lang="en-US"/>
              <a:t>(A, 20)</a:t>
            </a:r>
          </a:p>
        </p:txBody>
      </p:sp>
      <p:sp>
        <p:nvSpPr>
          <p:cNvPr id="1048850" name="TextBox 12"/>
          <p:cNvSpPr txBox="1"/>
          <p:nvPr/>
        </p:nvSpPr>
        <p:spPr>
          <a:xfrm>
            <a:off x="3584945" y="333360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51" name="Rectangle 15"/>
          <p:cNvSpPr/>
          <p:nvPr/>
        </p:nvSpPr>
        <p:spPr>
          <a:xfrm>
            <a:off x="2658324" y="5035542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52" name="Rectangle 16"/>
          <p:cNvSpPr/>
          <p:nvPr/>
        </p:nvSpPr>
        <p:spPr>
          <a:xfrm>
            <a:off x="3572724" y="5035542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53" name="TextBox 17"/>
          <p:cNvSpPr txBox="1"/>
          <p:nvPr/>
        </p:nvSpPr>
        <p:spPr>
          <a:xfrm>
            <a:off x="3564411" y="501345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/>
              <a:t>Fee*</a:t>
            </a:r>
          </a:p>
          <a:p>
            <a:pPr algn="ctr"/>
            <a:r>
              <a:rPr dirty="0" sz="1000" lang="en-US"/>
              <a:t>(N,2)</a:t>
            </a:r>
          </a:p>
        </p:txBody>
      </p:sp>
      <p:sp>
        <p:nvSpPr>
          <p:cNvPr id="1048854" name="TextBox 18"/>
          <p:cNvSpPr txBox="1"/>
          <p:nvPr/>
        </p:nvSpPr>
        <p:spPr>
          <a:xfrm>
            <a:off x="1210524" y="5087189"/>
            <a:ext cx="1427685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L5: MOTOR_FEE</a:t>
            </a:r>
          </a:p>
        </p:txBody>
      </p:sp>
      <p:sp>
        <p:nvSpPr>
          <p:cNvPr id="1048855" name="TextBox 19"/>
          <p:cNvSpPr txBox="1"/>
          <p:nvPr/>
        </p:nvSpPr>
        <p:spPr>
          <a:xfrm>
            <a:off x="1230576" y="3390402"/>
            <a:ext cx="1535592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L3: EXPORT_R2</a:t>
            </a:r>
          </a:p>
        </p:txBody>
      </p:sp>
      <p:sp>
        <p:nvSpPr>
          <p:cNvPr id="1048856" name="TextBox 20"/>
          <p:cNvSpPr txBox="1"/>
          <p:nvPr/>
        </p:nvSpPr>
        <p:spPr>
          <a:xfrm>
            <a:off x="1537019" y="1883135"/>
            <a:ext cx="1231433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L1: NATION</a:t>
            </a:r>
          </a:p>
        </p:txBody>
      </p:sp>
      <p:sp>
        <p:nvSpPr>
          <p:cNvPr id="1048857" name="TextBox 21"/>
          <p:cNvSpPr txBox="1"/>
          <p:nvPr/>
        </p:nvSpPr>
        <p:spPr>
          <a:xfrm>
            <a:off x="2678439" y="501189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58" name="TextBox 26"/>
          <p:cNvSpPr txBox="1"/>
          <p:nvPr/>
        </p:nvSpPr>
        <p:spPr>
          <a:xfrm>
            <a:off x="714538" y="1013522"/>
            <a:ext cx="746760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If Canada did produce 6 cylinder Mustangs, and USA produced 4 cylinder Mustangs, this would be a solution more robust to anomalies. </a:t>
            </a:r>
          </a:p>
        </p:txBody>
      </p:sp>
      <p:sp>
        <p:nvSpPr>
          <p:cNvPr id="1048859" name="Rectangle 28"/>
          <p:cNvSpPr/>
          <p:nvPr/>
        </p:nvSpPr>
        <p:spPr>
          <a:xfrm>
            <a:off x="2659043" y="418263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60" name="Rectangle 29"/>
          <p:cNvSpPr/>
          <p:nvPr/>
        </p:nvSpPr>
        <p:spPr>
          <a:xfrm>
            <a:off x="3573443" y="418263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61" name="TextBox 32"/>
          <p:cNvSpPr txBox="1"/>
          <p:nvPr/>
        </p:nvSpPr>
        <p:spPr>
          <a:xfrm>
            <a:off x="2658324" y="417005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62" name="TextBox 33"/>
          <p:cNvSpPr txBox="1"/>
          <p:nvPr/>
        </p:nvSpPr>
        <p:spPr>
          <a:xfrm>
            <a:off x="3579194" y="4175710"/>
            <a:ext cx="914400" cy="5105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  <a:p>
            <a:pPr algn="ctr"/>
            <a:endParaRPr dirty="0" sz="1000" lang="en-US" u="sng"/>
          </a:p>
        </p:txBody>
      </p:sp>
      <p:sp>
        <p:nvSpPr>
          <p:cNvPr id="1048863" name="Rectangle 40"/>
          <p:cNvSpPr/>
          <p:nvPr/>
        </p:nvSpPr>
        <p:spPr>
          <a:xfrm>
            <a:off x="2667798" y="2503483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64" name="Rectangle 42"/>
          <p:cNvSpPr/>
          <p:nvPr/>
        </p:nvSpPr>
        <p:spPr>
          <a:xfrm>
            <a:off x="3572724" y="2495676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65" name="TextBox 44"/>
          <p:cNvSpPr txBox="1"/>
          <p:nvPr/>
        </p:nvSpPr>
        <p:spPr>
          <a:xfrm>
            <a:off x="2673549" y="248763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  <a:p>
            <a:pPr algn="ctr"/>
            <a:r>
              <a:rPr dirty="0" sz="1000" lang="en-US"/>
              <a:t>(A, 20)</a:t>
            </a:r>
          </a:p>
        </p:txBody>
      </p:sp>
      <p:sp>
        <p:nvSpPr>
          <p:cNvPr id="1048866" name="TextBox 46"/>
          <p:cNvSpPr txBox="1"/>
          <p:nvPr/>
        </p:nvSpPr>
        <p:spPr>
          <a:xfrm>
            <a:off x="3578475" y="2488753"/>
            <a:ext cx="914400" cy="5105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  <a:p>
            <a:pPr algn="ctr"/>
            <a:endParaRPr dirty="0" sz="1000" lang="en-US" u="sng"/>
          </a:p>
        </p:txBody>
      </p:sp>
      <p:sp>
        <p:nvSpPr>
          <p:cNvPr id="1048867" name="TextBox 50"/>
          <p:cNvSpPr txBox="1"/>
          <p:nvPr/>
        </p:nvSpPr>
        <p:spPr>
          <a:xfrm>
            <a:off x="5836619" y="2241413"/>
            <a:ext cx="2621581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    L2                                                     n</a:t>
            </a:r>
          </a:p>
        </p:txBody>
      </p:sp>
      <p:sp>
        <p:nvSpPr>
          <p:cNvPr id="1048868" name="TextBox 39"/>
          <p:cNvSpPr txBox="1"/>
          <p:nvPr/>
        </p:nvSpPr>
        <p:spPr>
          <a:xfrm>
            <a:off x="1224125" y="4259310"/>
            <a:ext cx="1535592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L4: EXPORT_R3</a:t>
            </a:r>
          </a:p>
        </p:txBody>
      </p:sp>
      <p:sp>
        <p:nvSpPr>
          <p:cNvPr id="1048869" name="TextBox 41"/>
          <p:cNvSpPr txBox="1"/>
          <p:nvPr/>
        </p:nvSpPr>
        <p:spPr>
          <a:xfrm>
            <a:off x="1226390" y="2552837"/>
            <a:ext cx="1535592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L2: EXPORT_R1</a:t>
            </a:r>
          </a:p>
        </p:txBody>
      </p:sp>
      <p:sp>
        <p:nvSpPr>
          <p:cNvPr id="1048870" name="Rectangle 37"/>
          <p:cNvSpPr/>
          <p:nvPr/>
        </p:nvSpPr>
        <p:spPr>
          <a:xfrm>
            <a:off x="5874000" y="3349458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71" name="Rectangle 38"/>
          <p:cNvSpPr/>
          <p:nvPr/>
        </p:nvSpPr>
        <p:spPr>
          <a:xfrm>
            <a:off x="6788400" y="3349458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72" name="Rectangle 48"/>
          <p:cNvSpPr/>
          <p:nvPr/>
        </p:nvSpPr>
        <p:spPr>
          <a:xfrm>
            <a:off x="7702800" y="3349458"/>
            <a:ext cx="914400" cy="381000"/>
          </a:xfrm>
          <a:prstGeom prst="rect"/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73" name="TextBox 53"/>
          <p:cNvSpPr txBox="1"/>
          <p:nvPr/>
        </p:nvSpPr>
        <p:spPr>
          <a:xfrm>
            <a:off x="5879751" y="3333609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Model</a:t>
            </a:r>
          </a:p>
          <a:p>
            <a:pPr algn="ctr"/>
            <a:r>
              <a:rPr dirty="0" sz="1000" lang="en-US"/>
              <a:t>(A, 20)</a:t>
            </a:r>
          </a:p>
        </p:txBody>
      </p:sp>
      <p:sp>
        <p:nvSpPr>
          <p:cNvPr id="1048874" name="TextBox 54"/>
          <p:cNvSpPr txBox="1"/>
          <p:nvPr/>
        </p:nvSpPr>
        <p:spPr>
          <a:xfrm>
            <a:off x="6787681" y="3336884"/>
            <a:ext cx="914400" cy="3708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Cylinders</a:t>
            </a:r>
          </a:p>
          <a:p>
            <a:pPr algn="ctr"/>
            <a:r>
              <a:rPr dirty="0" sz="1000" lang="en-US"/>
              <a:t>(N,1)</a:t>
            </a:r>
          </a:p>
        </p:txBody>
      </p:sp>
      <p:sp>
        <p:nvSpPr>
          <p:cNvPr id="1048875" name="TextBox 55"/>
          <p:cNvSpPr txBox="1"/>
          <p:nvPr/>
        </p:nvSpPr>
        <p:spPr>
          <a:xfrm>
            <a:off x="7708551" y="3342535"/>
            <a:ext cx="914400" cy="5105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000" lang="en-US" u="sng"/>
              <a:t>Origin</a:t>
            </a:r>
          </a:p>
          <a:p>
            <a:pPr algn="ctr"/>
            <a:r>
              <a:rPr dirty="0" sz="1000" lang="en-US"/>
              <a:t>(A,20)</a:t>
            </a:r>
          </a:p>
          <a:p>
            <a:pPr algn="ctr"/>
            <a:endParaRPr dirty="0" sz="1000" lang="en-US" u="sng"/>
          </a:p>
        </p:txBody>
      </p:sp>
      <p:sp>
        <p:nvSpPr>
          <p:cNvPr id="1048876" name="TextBox 56"/>
          <p:cNvSpPr txBox="1"/>
          <p:nvPr/>
        </p:nvSpPr>
        <p:spPr>
          <a:xfrm>
            <a:off x="4737470" y="3393677"/>
            <a:ext cx="1231433" cy="27699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200" lang="en-US"/>
              <a:t>L6: EXPORT</a:t>
            </a:r>
          </a:p>
        </p:txBody>
      </p:sp>
      <p:sp>
        <p:nvSpPr>
          <p:cNvPr id="1048877" name="TextBox 57"/>
          <p:cNvSpPr txBox="1"/>
          <p:nvPr/>
        </p:nvSpPr>
        <p:spPr>
          <a:xfrm>
            <a:off x="6889074" y="3111027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L5   n</a:t>
            </a:r>
          </a:p>
        </p:txBody>
      </p:sp>
      <p:sp>
        <p:nvSpPr>
          <p:cNvPr id="1048878" name="TextBox 58"/>
          <p:cNvSpPr txBox="1"/>
          <p:nvPr/>
        </p:nvSpPr>
        <p:spPr>
          <a:xfrm>
            <a:off x="7762558" y="3095516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L1   n</a:t>
            </a:r>
          </a:p>
        </p:txBody>
      </p:sp>
      <p:sp>
        <p:nvSpPr>
          <p:cNvPr id="1048879" name="TextBox 59"/>
          <p:cNvSpPr txBox="1"/>
          <p:nvPr/>
        </p:nvSpPr>
        <p:spPr>
          <a:xfrm>
            <a:off x="6937565" y="3730458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80" name="TextBox 60"/>
          <p:cNvSpPr txBox="1"/>
          <p:nvPr/>
        </p:nvSpPr>
        <p:spPr>
          <a:xfrm>
            <a:off x="7797958" y="3727811"/>
            <a:ext cx="762000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R   1</a:t>
            </a:r>
          </a:p>
        </p:txBody>
      </p:sp>
      <p:sp>
        <p:nvSpPr>
          <p:cNvPr id="1048881" name="TextBox 61"/>
          <p:cNvSpPr txBox="1"/>
          <p:nvPr/>
        </p:nvSpPr>
        <p:spPr>
          <a:xfrm>
            <a:off x="5870536" y="2860928"/>
            <a:ext cx="1658469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             L3                n</a:t>
            </a:r>
          </a:p>
        </p:txBody>
      </p:sp>
      <p:sp>
        <p:nvSpPr>
          <p:cNvPr id="1048882" name="TextBox 62"/>
          <p:cNvSpPr txBox="1"/>
          <p:nvPr/>
        </p:nvSpPr>
        <p:spPr>
          <a:xfrm>
            <a:off x="5870536" y="3928565"/>
            <a:ext cx="1619595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             R                 1</a:t>
            </a:r>
          </a:p>
        </p:txBody>
      </p:sp>
      <p:sp>
        <p:nvSpPr>
          <p:cNvPr id="1048883" name="TextBox 63"/>
          <p:cNvSpPr txBox="1"/>
          <p:nvPr/>
        </p:nvSpPr>
        <p:spPr>
          <a:xfrm>
            <a:off x="6866089" y="2624087"/>
            <a:ext cx="1658469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             L4                n</a:t>
            </a:r>
          </a:p>
        </p:txBody>
      </p:sp>
      <p:sp>
        <p:nvSpPr>
          <p:cNvPr id="1048884" name="TextBox 65"/>
          <p:cNvSpPr txBox="1"/>
          <p:nvPr/>
        </p:nvSpPr>
        <p:spPr>
          <a:xfrm>
            <a:off x="5870536" y="4399288"/>
            <a:ext cx="2746664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     R                                                        1   </a:t>
            </a:r>
          </a:p>
        </p:txBody>
      </p:sp>
      <p:sp>
        <p:nvSpPr>
          <p:cNvPr id="1048885" name="TextBox 66"/>
          <p:cNvSpPr txBox="1"/>
          <p:nvPr/>
        </p:nvSpPr>
        <p:spPr>
          <a:xfrm>
            <a:off x="6937565" y="4126672"/>
            <a:ext cx="1619595" cy="24622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000" lang="en-US"/>
              <a:t>1                 R                 1</a:t>
            </a:r>
          </a:p>
        </p:txBody>
      </p:sp>
      <p:cxnSp>
        <p:nvCxnSpPr>
          <p:cNvPr id="3145728" name="Straight Arrow Connector 7"/>
          <p:cNvCxnSpPr>
            <a:cxnSpLocks/>
          </p:cNvCxnSpPr>
          <p:nvPr/>
        </p:nvCxnSpPr>
        <p:spPr>
          <a:xfrm>
            <a:off x="7839017" y="2360762"/>
            <a:ext cx="382074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Arrow Connector 67"/>
          <p:cNvCxnSpPr>
            <a:cxnSpLocks/>
          </p:cNvCxnSpPr>
          <p:nvPr/>
        </p:nvCxnSpPr>
        <p:spPr>
          <a:xfrm flipH="1">
            <a:off x="6001105" y="2360762"/>
            <a:ext cx="177958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Arrow Connector 68"/>
          <p:cNvCxnSpPr>
            <a:cxnSpLocks/>
          </p:cNvCxnSpPr>
          <p:nvPr/>
        </p:nvCxnSpPr>
        <p:spPr>
          <a:xfrm flipH="1">
            <a:off x="7102652" y="2733941"/>
            <a:ext cx="431825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Straight Arrow Connector 69"/>
          <p:cNvCxnSpPr>
            <a:cxnSpLocks/>
          </p:cNvCxnSpPr>
          <p:nvPr/>
        </p:nvCxnSpPr>
        <p:spPr>
          <a:xfrm flipV="1">
            <a:off x="7839017" y="2737908"/>
            <a:ext cx="382074" cy="2646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Straight Arrow Connector 70"/>
          <p:cNvCxnSpPr>
            <a:cxnSpLocks/>
          </p:cNvCxnSpPr>
          <p:nvPr/>
        </p:nvCxnSpPr>
        <p:spPr>
          <a:xfrm flipH="1">
            <a:off x="6090084" y="2964071"/>
            <a:ext cx="431825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Straight Arrow Connector 71"/>
          <p:cNvCxnSpPr>
            <a:cxnSpLocks/>
          </p:cNvCxnSpPr>
          <p:nvPr/>
        </p:nvCxnSpPr>
        <p:spPr>
          <a:xfrm flipV="1">
            <a:off x="6826449" y="2968038"/>
            <a:ext cx="382074" cy="2646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Straight Connector 35"/>
          <p:cNvCxnSpPr>
            <a:cxnSpLocks/>
          </p:cNvCxnSpPr>
          <p:nvPr/>
        </p:nvCxnSpPr>
        <p:spPr>
          <a:xfrm>
            <a:off x="6477000" y="2360762"/>
            <a:ext cx="155536" cy="0"/>
          </a:xfrm>
          <a:prstGeom prst="line"/>
          <a:ln>
            <a:solidFill>
              <a:schemeClr val="tx1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Straight Arrow Connector 72"/>
          <p:cNvCxnSpPr>
            <a:cxnSpLocks/>
          </p:cNvCxnSpPr>
          <p:nvPr/>
        </p:nvCxnSpPr>
        <p:spPr>
          <a:xfrm flipH="1">
            <a:off x="7114464" y="4258603"/>
            <a:ext cx="431825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Straight Arrow Connector 73"/>
          <p:cNvCxnSpPr>
            <a:cxnSpLocks/>
          </p:cNvCxnSpPr>
          <p:nvPr/>
        </p:nvCxnSpPr>
        <p:spPr>
          <a:xfrm flipV="1">
            <a:off x="7850829" y="4262570"/>
            <a:ext cx="382074" cy="2646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Straight Arrow Connector 74"/>
          <p:cNvCxnSpPr>
            <a:cxnSpLocks/>
          </p:cNvCxnSpPr>
          <p:nvPr/>
        </p:nvCxnSpPr>
        <p:spPr>
          <a:xfrm flipH="1">
            <a:off x="6105481" y="4050352"/>
            <a:ext cx="431825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Arrow Connector 75"/>
          <p:cNvCxnSpPr>
            <a:cxnSpLocks/>
          </p:cNvCxnSpPr>
          <p:nvPr/>
        </p:nvCxnSpPr>
        <p:spPr>
          <a:xfrm flipV="1">
            <a:off x="6841846" y="4054319"/>
            <a:ext cx="382074" cy="2646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Arrow Connector 76"/>
          <p:cNvCxnSpPr>
            <a:cxnSpLocks/>
          </p:cNvCxnSpPr>
          <p:nvPr/>
        </p:nvCxnSpPr>
        <p:spPr>
          <a:xfrm>
            <a:off x="7924800" y="4530558"/>
            <a:ext cx="382074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Straight Arrow Connector 77"/>
          <p:cNvCxnSpPr>
            <a:cxnSpLocks/>
          </p:cNvCxnSpPr>
          <p:nvPr/>
        </p:nvCxnSpPr>
        <p:spPr>
          <a:xfrm flipH="1">
            <a:off x="6086888" y="4530558"/>
            <a:ext cx="177958" cy="0"/>
          </a:xfrm>
          <a:prstGeom prst="straightConnector1"/>
          <a:ln>
            <a:solidFill>
              <a:schemeClr val="tx1"/>
            </a:solidFill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Straight Connector 78"/>
          <p:cNvCxnSpPr>
            <a:cxnSpLocks/>
          </p:cNvCxnSpPr>
          <p:nvPr/>
        </p:nvCxnSpPr>
        <p:spPr>
          <a:xfrm>
            <a:off x="6562783" y="4530558"/>
            <a:ext cx="155536" cy="0"/>
          </a:xfrm>
          <a:prstGeom prst="line"/>
          <a:ln>
            <a:solidFill>
              <a:schemeClr val="tx1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Summary</a:t>
            </a:r>
          </a:p>
        </p:txBody>
      </p:sp>
      <p:sp>
        <p:nvSpPr>
          <p:cNvPr id="10488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lvl="1"/>
            <a:r>
              <a:rPr dirty="0" sz="2000" lang="en-US"/>
              <a:t>EER modeling enhances the conceptual model to reflect:</a:t>
            </a:r>
          </a:p>
          <a:p>
            <a:pPr lvl="2"/>
            <a:r>
              <a:rPr dirty="0" sz="2000" lang="en-US"/>
              <a:t>Specialization</a:t>
            </a:r>
          </a:p>
          <a:p>
            <a:pPr lvl="2"/>
            <a:r>
              <a:rPr dirty="0" sz="2000" lang="en-US"/>
              <a:t>Categorization</a:t>
            </a:r>
          </a:p>
          <a:p>
            <a:pPr lvl="2"/>
            <a:r>
              <a:rPr dirty="0" sz="2000" lang="en-US"/>
              <a:t>Aggregation</a:t>
            </a:r>
          </a:p>
          <a:p>
            <a:pPr lvl="1"/>
            <a:r>
              <a:rPr dirty="0" sz="2000" lang="en-US"/>
              <a:t>Inheritance modeling grammar can be converted to the logical design layer to avoid the loss of important contextual information</a:t>
            </a:r>
          </a:p>
          <a:p>
            <a:pPr lvl="2"/>
            <a:r>
              <a:rPr dirty="0" sz="2000" lang="en-US"/>
              <a:t>Inheritance relationships can also be validated using the same general principles from 1NF to 5NF</a:t>
            </a:r>
          </a:p>
          <a:p>
            <a:pPr lvl="1"/>
            <a:endParaRPr dirty="0" sz="2000" lang="en-US"/>
          </a:p>
          <a:p>
            <a:endParaRPr dirty="0" sz="2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CoB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hufforlb1</dc:creator>
  <cp:lastModifiedBy>Njeri Kahehu</cp:lastModifiedBy>
  <dcterms:created xsi:type="dcterms:W3CDTF">2009-07-07T13:37:51Z</dcterms:created>
  <dcterms:modified xsi:type="dcterms:W3CDTF">2026-03-27T20:10:19Z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5cf34ecd30114a259a3979b27708db34</vt:lpwstr>
  </property>
</Properties>
</file>